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8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0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050537" y="1863466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103120"/>
            <a:ext cx="5924550" cy="40233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SIH26171</a:t>
            </a:r>
            <a:endParaRPr lang="en-US" dirty="0"/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On-device Visual Perception for Light-weight Browser Agents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Miscellaneous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</a:p>
          <a:p>
            <a:pPr marL="285750" indent="-285750" algn="l">
              <a:lnSpc>
                <a:spcPct val="105000"/>
              </a:lnSpc>
              <a:spcAft>
                <a:spcPts val="1000"/>
              </a:spcAft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1B2A4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Name – </a:t>
            </a:r>
            <a:r>
              <a:rPr lang="en-US" sz="1900" b="0" dirty="0">
                <a:solidFill>
                  <a:srgbClr val="262E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HexaBits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B5D3BC4-B94D-1FC3-589C-E7DB4B1AF431}"/>
              </a:ext>
            </a:extLst>
          </p:cNvPr>
          <p:cNvSpPr txBox="1"/>
          <p:nvPr/>
        </p:nvSpPr>
        <p:spPr>
          <a:xfrm>
            <a:off x="7865806" y="410005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FUSION PRIVACY AGENT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TextBox 15362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See locally. Redact locally. Only then ask the server.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11480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Proposed Solution (Describe your Idea/Solution/Prototype)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11480" y="1389888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B6675"/>
                </a:solidFill>
                <a:latin typeface="Calibri"/>
              </a:rPr>
              <a:t>A browser extension that reads the screen with on-device vision models, masks every sensitive region locally, and lets a server VLM plan actions from the masked view only.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11480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7" name="Oval 15366"/>
          <p:cNvSpPr/>
          <p:nvPr/>
        </p:nvSpPr>
        <p:spPr>
          <a:xfrm>
            <a:off x="539496" y="1975104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8" name="Picture 15367" descr="ey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445" y="2076053"/>
            <a:ext cx="218724" cy="218724"/>
          </a:xfrm>
          <a:prstGeom prst="rect">
            <a:avLst/>
          </a:prstGeom>
        </p:spPr>
      </p:pic>
      <p:sp>
        <p:nvSpPr>
          <p:cNvPr id="15369" name="TextBox 15368"/>
          <p:cNvSpPr txBox="1"/>
          <p:nvPr/>
        </p:nvSpPr>
        <p:spPr>
          <a:xfrm>
            <a:off x="1051560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1  SEE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539496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Florence-2 (ViT), YOLOv8n and OCR read the screen on WebGPU</a:t>
            </a:r>
          </a:p>
        </p:txBody>
      </p:sp>
      <p:cxnSp>
        <p:nvCxnSpPr>
          <p:cNvPr id="15371" name="Connector 15370"/>
          <p:cNvCxnSpPr/>
          <p:nvPr/>
        </p:nvCxnSpPr>
        <p:spPr>
          <a:xfrm>
            <a:off x="2487168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2" name="Rounded Rectangle 15371"/>
          <p:cNvSpPr/>
          <p:nvPr/>
        </p:nvSpPr>
        <p:spPr>
          <a:xfrm>
            <a:off x="2734056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2862072" y="1975104"/>
            <a:ext cx="420624" cy="420624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74" name="Picture 15373" descr="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63021" y="2076053"/>
            <a:ext cx="218724" cy="218724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3374136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2  DETECT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2862072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 tags, regex, NER and BlazeFace find PII and faces</a:t>
            </a:r>
          </a:p>
        </p:txBody>
      </p:sp>
      <p:cxnSp>
        <p:nvCxnSpPr>
          <p:cNvPr id="15377" name="Connector 15376"/>
          <p:cNvCxnSpPr/>
          <p:nvPr/>
        </p:nvCxnSpPr>
        <p:spPr>
          <a:xfrm>
            <a:off x="4809744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8" name="Rounded Rectangle 15377"/>
          <p:cNvSpPr/>
          <p:nvPr/>
        </p:nvSpPr>
        <p:spPr>
          <a:xfrm>
            <a:off x="5056632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9" name="Oval 15378"/>
          <p:cNvSpPr/>
          <p:nvPr/>
        </p:nvSpPr>
        <p:spPr>
          <a:xfrm>
            <a:off x="5184648" y="1975104"/>
            <a:ext cx="420624" cy="420624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0" name="Picture 15379" descr="eyeSlas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597" y="2076053"/>
            <a:ext cx="218724" cy="218724"/>
          </a:xfrm>
          <a:prstGeom prst="rect">
            <a:avLst/>
          </a:prstGeom>
        </p:spPr>
      </p:pic>
      <p:sp>
        <p:nvSpPr>
          <p:cNvPr id="15381" name="TextBox 15380"/>
          <p:cNvSpPr txBox="1"/>
          <p:nvPr/>
        </p:nvSpPr>
        <p:spPr>
          <a:xfrm>
            <a:off x="5696712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3  REDACT</a:t>
            </a:r>
          </a:p>
        </p:txBody>
      </p:sp>
      <p:sp>
        <p:nvSpPr>
          <p:cNvPr id="15382" name="TextBox 15381"/>
          <p:cNvSpPr txBox="1"/>
          <p:nvPr/>
        </p:nvSpPr>
        <p:spPr>
          <a:xfrm>
            <a:off x="5184648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Masks drawn on-device before any network request</a:t>
            </a:r>
          </a:p>
        </p:txBody>
      </p:sp>
      <p:cxnSp>
        <p:nvCxnSpPr>
          <p:cNvPr id="15383" name="Connector 15382"/>
          <p:cNvCxnSpPr/>
          <p:nvPr/>
        </p:nvCxnSpPr>
        <p:spPr>
          <a:xfrm>
            <a:off x="7132320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4" name="Rounded Rectangle 15383"/>
          <p:cNvSpPr/>
          <p:nvPr/>
        </p:nvSpPr>
        <p:spPr>
          <a:xfrm>
            <a:off x="7379208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7507224" y="1975104"/>
            <a:ext cx="420624" cy="42062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86" name="Picture 15385" descr="serv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8173" y="2076053"/>
            <a:ext cx="218724" cy="218724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8019288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4  PLAN</a:t>
            </a:r>
          </a:p>
        </p:txBody>
      </p:sp>
      <p:sp>
        <p:nvSpPr>
          <p:cNvPr id="15388" name="TextBox 15387"/>
          <p:cNvSpPr txBox="1"/>
          <p:nvPr/>
        </p:nvSpPr>
        <p:spPr>
          <a:xfrm>
            <a:off x="7507224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Server VLM gets masked image + redaction manifest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9454896" y="2478024"/>
            <a:ext cx="21945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9701784" y="1847088"/>
            <a:ext cx="2048256" cy="1261872"/>
          </a:xfrm>
          <a:prstGeom prst="roundRect">
            <a:avLst>
              <a:gd name="adj" fmla="val 10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1" name="Oval 15390"/>
          <p:cNvSpPr/>
          <p:nvPr/>
        </p:nvSpPr>
        <p:spPr>
          <a:xfrm>
            <a:off x="9829800" y="1975104"/>
            <a:ext cx="420624" cy="42062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92" name="Picture 15391" descr="cli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30749" y="2076053"/>
            <a:ext cx="218724" cy="218724"/>
          </a:xfrm>
          <a:prstGeom prst="rect">
            <a:avLst/>
          </a:prstGeom>
        </p:spPr>
      </p:pic>
      <p:sp>
        <p:nvSpPr>
          <p:cNvPr id="15393" name="TextBox 15392"/>
          <p:cNvSpPr txBox="1"/>
          <p:nvPr/>
        </p:nvSpPr>
        <p:spPr>
          <a:xfrm>
            <a:off x="10341863" y="2029968"/>
            <a:ext cx="1316736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5  ACT</a:t>
            </a:r>
          </a:p>
        </p:txBody>
      </p:sp>
      <p:sp>
        <p:nvSpPr>
          <p:cNvPr id="15394" name="TextBox 15393"/>
          <p:cNvSpPr txBox="1"/>
          <p:nvPr/>
        </p:nvSpPr>
        <p:spPr>
          <a:xfrm>
            <a:off x="9829800" y="2468880"/>
            <a:ext cx="1792224" cy="6035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Extension clicks, types, scrolls, loops until done</a:t>
            </a:r>
          </a:p>
        </p:txBody>
      </p:sp>
      <p:sp>
        <p:nvSpPr>
          <p:cNvPr id="15395" name="Rectangle 15394"/>
          <p:cNvSpPr/>
          <p:nvPr/>
        </p:nvSpPr>
        <p:spPr>
          <a:xfrm>
            <a:off x="7232904" y="1737360"/>
            <a:ext cx="18288" cy="1481328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TextBox 15395"/>
          <p:cNvSpPr txBox="1"/>
          <p:nvPr/>
        </p:nvSpPr>
        <p:spPr>
          <a:xfrm>
            <a:off x="5779008" y="3182112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1">
                <a:solidFill>
                  <a:srgbClr val="E87722"/>
                </a:solidFill>
                <a:latin typeface="Calibri"/>
              </a:rPr>
              <a:t>device boundary: only masked data crosses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411480" y="3493008"/>
            <a:ext cx="4754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15398" name="TextBox 15397"/>
          <p:cNvSpPr txBox="1"/>
          <p:nvPr/>
        </p:nvSpPr>
        <p:spPr>
          <a:xfrm>
            <a:off x="411480" y="3840480"/>
            <a:ext cx="4846320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Sensitive pixels never leave the browser: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passwords, IDs, faces and PII are masked on-device first.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Server stays useful: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the redaction manifest tells it what kind of field sits where, so it can still plan.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Light enough for a laptop: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quantized models, WebGPU with WASM fallback, all bundled offline.</a:t>
            </a:r>
          </a:p>
          <a:p>
            <a:pPr algn="l"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262E3B"/>
                </a:solidFill>
                <a:latin typeface="Calibri"/>
              </a:rPr>
              <a:t>End-to-end: </a:t>
            </a:r>
            <a:r>
              <a:rPr sz="1150" b="0" i="0">
                <a:solidFill>
                  <a:srgbClr val="262E3B"/>
                </a:solidFill>
                <a:latin typeface="Calibri"/>
              </a:rPr>
              <a:t>a multi-step agent loop completes real form tasks, with user confirmation on submit or pay.</a:t>
            </a:r>
          </a:p>
        </p:txBody>
      </p:sp>
      <p:sp>
        <p:nvSpPr>
          <p:cNvPr id="15399" name="TextBox 15398"/>
          <p:cNvSpPr txBox="1"/>
          <p:nvPr/>
        </p:nvSpPr>
        <p:spPr>
          <a:xfrm>
            <a:off x="5577840" y="349300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Innovation and uniqueness of the solution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5577840" y="3858768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5687568" y="3986783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2" name="Picture 15401" descr="layer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79739" y="4078955"/>
            <a:ext cx="199704" cy="199704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6163055" y="4041648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Confidence fusion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5687568" y="4443983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Detectors vote with noisy-OR; a weak lone hit is still masked (fail-safe).</a:t>
            </a:r>
          </a:p>
        </p:txBody>
      </p:sp>
      <p:sp>
        <p:nvSpPr>
          <p:cNvPr id="15405" name="Rounded Rectangle 15404"/>
          <p:cNvSpPr/>
          <p:nvPr/>
        </p:nvSpPr>
        <p:spPr>
          <a:xfrm>
            <a:off x="8723376" y="3858768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6" name="Oval 15405"/>
          <p:cNvSpPr/>
          <p:nvPr/>
        </p:nvSpPr>
        <p:spPr>
          <a:xfrm>
            <a:off x="8833103" y="3986783"/>
            <a:ext cx="384048" cy="38404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07" name="Picture 15406" descr="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25275" y="4078955"/>
            <a:ext cx="199704" cy="199704"/>
          </a:xfrm>
          <a:prstGeom prst="rect">
            <a:avLst/>
          </a:prstGeom>
        </p:spPr>
      </p:pic>
      <p:sp>
        <p:nvSpPr>
          <p:cNvPr id="15408" name="TextBox 15407"/>
          <p:cNvSpPr txBox="1"/>
          <p:nvPr/>
        </p:nvSpPr>
        <p:spPr>
          <a:xfrm>
            <a:off x="9308592" y="4041648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DOM-wins safe zones</a:t>
            </a:r>
          </a:p>
        </p:txBody>
      </p:sp>
      <p:sp>
        <p:nvSpPr>
          <p:cNvPr id="15409" name="TextBox 15408"/>
          <p:cNvSpPr txBox="1"/>
          <p:nvPr/>
        </p:nvSpPr>
        <p:spPr>
          <a:xfrm>
            <a:off x="8833103" y="4443983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 structure overrides vision false positives, cutting over-redaction.</a:t>
            </a:r>
          </a:p>
        </p:txBody>
      </p:sp>
      <p:sp>
        <p:nvSpPr>
          <p:cNvPr id="15410" name="Rounded Rectangle 15409"/>
          <p:cNvSpPr/>
          <p:nvPr/>
        </p:nvSpPr>
        <p:spPr>
          <a:xfrm>
            <a:off x="5577840" y="5120640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1" name="Oval 15410"/>
          <p:cNvSpPr/>
          <p:nvPr/>
        </p:nvSpPr>
        <p:spPr>
          <a:xfrm>
            <a:off x="5687568" y="5248655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12" name="Picture 15411" descr="shiel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79739" y="5340827"/>
            <a:ext cx="199704" cy="199704"/>
          </a:xfrm>
          <a:prstGeom prst="rect">
            <a:avLst/>
          </a:prstGeom>
        </p:spPr>
      </p:pic>
      <p:sp>
        <p:nvSpPr>
          <p:cNvPr id="15413" name="TextBox 15412"/>
          <p:cNvSpPr txBox="1"/>
          <p:nvPr/>
        </p:nvSpPr>
        <p:spPr>
          <a:xfrm>
            <a:off x="6163055" y="5303520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Redaction-aware server</a:t>
            </a:r>
          </a:p>
        </p:txBody>
      </p:sp>
      <p:sp>
        <p:nvSpPr>
          <p:cNvPr id="15414" name="TextBox 15413"/>
          <p:cNvSpPr txBox="1"/>
          <p:nvPr/>
        </p:nvSpPr>
        <p:spPr>
          <a:xfrm>
            <a:off x="5687568" y="5705855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Guard blocks the planner from typing into fields it cannot see.</a:t>
            </a:r>
          </a:p>
        </p:txBody>
      </p:sp>
      <p:sp>
        <p:nvSpPr>
          <p:cNvPr id="15415" name="Rounded Rectangle 15414"/>
          <p:cNvSpPr/>
          <p:nvPr/>
        </p:nvSpPr>
        <p:spPr>
          <a:xfrm>
            <a:off x="8723376" y="5120640"/>
            <a:ext cx="2999232" cy="1133856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6" name="Oval 15415"/>
          <p:cNvSpPr/>
          <p:nvPr/>
        </p:nvSpPr>
        <p:spPr>
          <a:xfrm>
            <a:off x="8833103" y="5248655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417" name="Picture 15416" descr="vault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25275" y="5340827"/>
            <a:ext cx="199704" cy="199704"/>
          </a:xfrm>
          <a:prstGeom prst="rect">
            <a:avLst/>
          </a:prstGeom>
        </p:spPr>
      </p:pic>
      <p:sp>
        <p:nvSpPr>
          <p:cNvPr id="15418" name="TextBox 15417"/>
          <p:cNvSpPr txBox="1"/>
          <p:nvPr/>
        </p:nvSpPr>
        <p:spPr>
          <a:xfrm>
            <a:off x="9308592" y="5303520"/>
            <a:ext cx="234086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B2A4A"/>
                </a:solidFill>
                <a:latin typeface="Calibri"/>
              </a:rPr>
              <a:t>Local answer vault</a:t>
            </a:r>
          </a:p>
        </p:txBody>
      </p:sp>
      <p:sp>
        <p:nvSpPr>
          <p:cNvPr id="15419" name="TextBox 15418"/>
          <p:cNvSpPr txBox="1"/>
          <p:nvPr/>
        </p:nvSpPr>
        <p:spPr>
          <a:xfrm>
            <a:off x="8833103" y="5705855"/>
            <a:ext cx="2779776" cy="5303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Values the agent asks for are filled on-device, never sent to server.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Heavy perception on the client, reasoning on the server, raw data never crosses.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Technologies to be used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1463040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On-device vision / NLP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1737360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Florence-2 (ViT)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1744675" y="1737360"/>
            <a:ext cx="61813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YOLOv8n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435961" y="1737360"/>
            <a:ext cx="7607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BlazeFace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69894" y="1737360"/>
            <a:ext cx="68945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BERT-NER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11480" y="2066544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Tesseract OCR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1530705" y="2066544"/>
            <a:ext cx="97475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Whisper-tiny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11480" y="2487168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In-browser runtime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2761488"/>
            <a:ext cx="546811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WebGPU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1031443" y="2761488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WASM fallback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2150668" y="2761488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ONNX Runtime Web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411480" y="3090672"/>
            <a:ext cx="118871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Transformers.js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1673351" y="3090672"/>
            <a:ext cx="7607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MediaPipe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11480" y="3511296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Extension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11480" y="3785615"/>
            <a:ext cx="83210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TypeScript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1316736" y="3785615"/>
            <a:ext cx="90342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Manifest V3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2293315" y="3785615"/>
            <a:ext cx="140268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Offscreen document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411480" y="4114800"/>
            <a:ext cx="104607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Side panel UI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1530705" y="4114800"/>
            <a:ext cx="4041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Vite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11480" y="4535424"/>
            <a:ext cx="3840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8E4A"/>
                </a:solidFill>
                <a:latin typeface="Calibri"/>
              </a:rPr>
              <a:t>Server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11480" y="4809744"/>
            <a:ext cx="546811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Python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31443" y="4809744"/>
            <a:ext cx="61813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FastAPI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1722729" y="4809744"/>
            <a:ext cx="1260043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Open-weights VLM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411480" y="5138928"/>
            <a:ext cx="1616659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OpenAI-compatible API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2101291" y="5138928"/>
            <a:ext cx="68945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Pydantic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572000" y="1115568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Methodology and process for implementation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4572000" y="1444752"/>
            <a:ext cx="7205472" cy="2926080"/>
          </a:xfrm>
          <a:prstGeom prst="roundRect">
            <a:avLst>
              <a:gd name="adj" fmla="val 4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4709160" y="1499616"/>
            <a:ext cx="45720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E87722"/>
                </a:solidFill>
                <a:latin typeface="Calibri"/>
              </a:rPr>
              <a:t>USER'S BROWSER  (trusted, on-device)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4754880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4846320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1. Capture</a:t>
            </a:r>
          </a:p>
        </p:txBody>
      </p:sp>
      <p:sp>
        <p:nvSpPr>
          <p:cNvPr id="17443" name="TextBox 17442"/>
          <p:cNvSpPr txBox="1"/>
          <p:nvPr/>
        </p:nvSpPr>
        <p:spPr>
          <a:xfrm>
            <a:off x="4846320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Screenshot + DOM skeleton (tags, types, labels; no values)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7168896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7260336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70C0"/>
                </a:solidFill>
                <a:latin typeface="Calibri"/>
              </a:rPr>
              <a:t>2. Perceive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7260336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Offscreen doc: Florence-2, YOLO, OCR, NER, BlazeFace on WebGPU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582912" y="1810512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674352" y="1874519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3. Fuse + Redact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9674352" y="2139696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DOM + vision boxes, noisy-OR scoring, black-box masks</a:t>
            </a:r>
          </a:p>
        </p:txBody>
      </p:sp>
      <p:cxnSp>
        <p:nvCxnSpPr>
          <p:cNvPr id="17450" name="Connector 17449"/>
          <p:cNvCxnSpPr/>
          <p:nvPr/>
        </p:nvCxnSpPr>
        <p:spPr>
          <a:xfrm>
            <a:off x="6766560" y="226771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>
            <a:off x="9180576" y="226771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Rounded Rectangle 17451"/>
          <p:cNvSpPr/>
          <p:nvPr/>
        </p:nvSpPr>
        <p:spPr>
          <a:xfrm>
            <a:off x="4754880" y="31089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846320" y="31729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E87722"/>
                </a:solidFill>
                <a:latin typeface="Calibri"/>
              </a:rPr>
              <a:t>6. Risk gate + vault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846320" y="3438144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Submit / pay / delete wait for user OK; asked values filled locally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7168896" y="3108960"/>
            <a:ext cx="20116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E8E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7260336" y="3172968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E8E4A"/>
                </a:solidFill>
                <a:latin typeface="Calibri"/>
              </a:rPr>
              <a:t>7. Execute + loop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7260336" y="3438144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Click, type, scroll, navigate; observe again until done (max 15)</a:t>
            </a:r>
          </a:p>
        </p:txBody>
      </p:sp>
      <p:cxnSp>
        <p:nvCxnSpPr>
          <p:cNvPr id="17458" name="Connector 17457"/>
          <p:cNvCxnSpPr/>
          <p:nvPr/>
        </p:nvCxnSpPr>
        <p:spPr>
          <a:xfrm>
            <a:off x="6766560" y="3566160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9" name="Rectangle 17458"/>
          <p:cNvSpPr/>
          <p:nvPr/>
        </p:nvSpPr>
        <p:spPr>
          <a:xfrm>
            <a:off x="4572000" y="4535424"/>
            <a:ext cx="7205472" cy="18288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663440" y="4581144"/>
            <a:ext cx="237744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E87722"/>
                </a:solidFill>
                <a:latin typeface="Calibri"/>
              </a:rPr>
              <a:t>privacy boundary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572000" y="4754880"/>
            <a:ext cx="7205472" cy="148132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7168896" y="4791456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1B2A4A"/>
                </a:solidFill>
                <a:latin typeface="Calibri"/>
              </a:rPr>
              <a:t>SERVER  (sees only sanitized context)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9582912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4" name="TextBox 17463"/>
          <p:cNvSpPr txBox="1"/>
          <p:nvPr/>
        </p:nvSpPr>
        <p:spPr>
          <a:xfrm>
            <a:off x="9674352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4. /next-action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9674352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FastAPI receives masked PNG + manifest + DOM skeleton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168896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260336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5a. VLM planner</a:t>
            </a:r>
          </a:p>
        </p:txBody>
      </p:sp>
      <p:sp>
        <p:nvSpPr>
          <p:cNvPr id="17468" name="TextBox 17467"/>
          <p:cNvSpPr txBox="1"/>
          <p:nvPr/>
        </p:nvSpPr>
        <p:spPr>
          <a:xfrm>
            <a:off x="7260336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Open-weights VLM, prompt knows the redaction scheme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4754880" y="5065776"/>
            <a:ext cx="201168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4846320" y="5129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B2A4A"/>
                </a:solidFill>
                <a:latin typeface="Calibri"/>
              </a:rPr>
              <a:t>5b. Safety guard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4846320" y="5394960"/>
            <a:ext cx="1828800" cy="621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262E3B"/>
                </a:solidFill>
                <a:latin typeface="Calibri"/>
              </a:rPr>
              <a:t>Rejects typing into masked fields and made-up selectors</a:t>
            </a:r>
          </a:p>
        </p:txBody>
      </p:sp>
      <p:cxnSp>
        <p:nvCxnSpPr>
          <p:cNvPr id="17472" name="Connector 17471"/>
          <p:cNvCxnSpPr/>
          <p:nvPr/>
        </p:nvCxnSpPr>
        <p:spPr>
          <a:xfrm flipH="1">
            <a:off x="9180576" y="555955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3" name="Connector 17472"/>
          <p:cNvCxnSpPr/>
          <p:nvPr/>
        </p:nvCxnSpPr>
        <p:spPr>
          <a:xfrm flipH="1">
            <a:off x="6766560" y="5559552"/>
            <a:ext cx="402336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74" name="Connector 17473"/>
          <p:cNvCxnSpPr/>
          <p:nvPr/>
        </p:nvCxnSpPr>
        <p:spPr>
          <a:xfrm>
            <a:off x="10588752" y="2724912"/>
            <a:ext cx="0" cy="2340864"/>
          </a:xfrm>
          <a:prstGeom prst="line">
            <a:avLst/>
          </a:prstGeom>
          <a:ln w="25400">
            <a:solidFill>
              <a:srgbClr val="E8772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5" name="TextBox 17474"/>
          <p:cNvSpPr txBox="1"/>
          <p:nvPr/>
        </p:nvSpPr>
        <p:spPr>
          <a:xfrm>
            <a:off x="10680192" y="3154679"/>
            <a:ext cx="96012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E87722"/>
                </a:solidFill>
                <a:latin typeface="Calibri"/>
              </a:rPr>
              <a:t>sanitized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masked image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manifest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E87722"/>
                </a:solidFill>
                <a:latin typeface="Calibri"/>
              </a:rPr>
              <a:t>DOM skeleton</a:t>
            </a:r>
          </a:p>
        </p:txBody>
      </p:sp>
      <p:cxnSp>
        <p:nvCxnSpPr>
          <p:cNvPr id="17476" name="Connector 17475"/>
          <p:cNvCxnSpPr/>
          <p:nvPr/>
        </p:nvCxnSpPr>
        <p:spPr>
          <a:xfrm flipV="1">
            <a:off x="5760720" y="4023360"/>
            <a:ext cx="0" cy="1042416"/>
          </a:xfrm>
          <a:prstGeom prst="line">
            <a:avLst/>
          </a:prstGeom>
          <a:ln w="25400">
            <a:solidFill>
              <a:srgbClr val="1E8E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7" name="TextBox 17476"/>
          <p:cNvSpPr txBox="1"/>
          <p:nvPr/>
        </p:nvSpPr>
        <p:spPr>
          <a:xfrm>
            <a:off x="5852160" y="4206240"/>
            <a:ext cx="10972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E8E4A"/>
                </a:solidFill>
                <a:latin typeface="Calibri"/>
              </a:rPr>
              <a:t>action 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Designed around the five evaluation metrics, working prototype already running.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Analysis of the feasibility of the idea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463040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Rounded Rectangle 17413"/>
          <p:cNvSpPr/>
          <p:nvPr/>
        </p:nvSpPr>
        <p:spPr>
          <a:xfrm>
            <a:off x="530352" y="1618488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1335024" y="1572768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Visual context accuracy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1335024" y="183794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Florence-2 captions + YOLO elements fused with the real DOM list, so actions hit real selectors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2395728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Rounded Rectangle 17417"/>
          <p:cNvSpPr/>
          <p:nvPr/>
        </p:nvSpPr>
        <p:spPr>
          <a:xfrm>
            <a:off x="530352" y="2551176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1335024" y="2505456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PII recall / precision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335024" y="277063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4 detectors (DOM, regex with Luhn, NER, BlazeFace) fused; eval harness: 5/5 fields, 0 false positives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11480" y="3328416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Rounded Rectangle 17421"/>
          <p:cNvSpPr/>
          <p:nvPr/>
        </p:nvSpPr>
        <p:spPr>
          <a:xfrm>
            <a:off x="530352" y="3483864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335024" y="3438144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Redaction precision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1335024" y="37033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Pixel-exact DOM boxes; DOM-safe zones suppress vision false positives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11480" y="4261104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530352" y="4416552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335024" y="4370832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Client resources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1335024" y="463600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int8 / fp16 quantized models, loaded lazily in one offscreen document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11480" y="5193792"/>
            <a:ext cx="6035040" cy="82296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ounded Rectangle 17429"/>
          <p:cNvSpPr/>
          <p:nvPr/>
        </p:nvSpPr>
        <p:spPr>
          <a:xfrm>
            <a:off x="530352" y="5349240"/>
            <a:ext cx="658368" cy="512064"/>
          </a:xfrm>
          <a:prstGeom prst="roundRect">
            <a:avLst>
              <a:gd name="adj" fmla="val 30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335024" y="5303520"/>
            <a:ext cx="498348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End-to-end latency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335024" y="556869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E3B"/>
                </a:solidFill>
                <a:latin typeface="Calibri"/>
              </a:rPr>
              <a:t>DOM-first fast path, WebGPU inference, fusion step under 1 ms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6720840" y="11155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Potential challenges and risks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9326880" y="111556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Strategies for overcoming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720840" y="1463040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812280" y="1691640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1779422"/>
            <a:ext cx="190195" cy="190195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7269480" y="1536192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Missed PII (false negative)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9134856" y="1874520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9326880" y="1463040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9418320" y="1691640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1779422"/>
            <a:ext cx="190195" cy="190195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9875520" y="1536192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Fail-safe: a low-confidence lone hit is still masked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6720840" y="2395728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6812280" y="2624328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6" name="Picture 17445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2712110"/>
            <a:ext cx="190195" cy="190195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7269480" y="2468880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Over-redaction hides context</a:t>
            </a:r>
          </a:p>
        </p:txBody>
      </p:sp>
      <p:cxnSp>
        <p:nvCxnSpPr>
          <p:cNvPr id="17448" name="Connector 17447"/>
          <p:cNvCxnSpPr/>
          <p:nvPr/>
        </p:nvCxnSpPr>
        <p:spPr>
          <a:xfrm>
            <a:off x="9134856" y="2807208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9" name="Rounded Rectangle 17448"/>
          <p:cNvSpPr/>
          <p:nvPr/>
        </p:nvSpPr>
        <p:spPr>
          <a:xfrm>
            <a:off x="9326880" y="2395728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0" name="Oval 17449"/>
          <p:cNvSpPr/>
          <p:nvPr/>
        </p:nvSpPr>
        <p:spPr>
          <a:xfrm>
            <a:off x="9418320" y="2624328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2712110"/>
            <a:ext cx="190195" cy="190195"/>
          </a:xfrm>
          <a:prstGeom prst="rect">
            <a:avLst/>
          </a:prstGeom>
        </p:spPr>
      </p:pic>
      <p:sp>
        <p:nvSpPr>
          <p:cNvPr id="17452" name="TextBox 17451"/>
          <p:cNvSpPr txBox="1"/>
          <p:nvPr/>
        </p:nvSpPr>
        <p:spPr>
          <a:xfrm>
            <a:off x="9875520" y="2468880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Manifest keeps field type; DOM-safe zones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6720840" y="3328416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4" name="Oval 17453"/>
          <p:cNvSpPr/>
          <p:nvPr/>
        </p:nvSpPr>
        <p:spPr>
          <a:xfrm>
            <a:off x="6812280" y="3557016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5" name="Picture 17454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3644798"/>
            <a:ext cx="190195" cy="190195"/>
          </a:xfrm>
          <a:prstGeom prst="rect">
            <a:avLst/>
          </a:prstGeom>
        </p:spPr>
      </p:pic>
      <p:sp>
        <p:nvSpPr>
          <p:cNvPr id="17456" name="TextBox 17455"/>
          <p:cNvSpPr txBox="1"/>
          <p:nvPr/>
        </p:nvSpPr>
        <p:spPr>
          <a:xfrm>
            <a:off x="7269480" y="3401568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Heavy models, low-end laptops</a:t>
            </a:r>
          </a:p>
        </p:txBody>
      </p:sp>
      <p:cxnSp>
        <p:nvCxnSpPr>
          <p:cNvPr id="17457" name="Connector 17456"/>
          <p:cNvCxnSpPr/>
          <p:nvPr/>
        </p:nvCxnSpPr>
        <p:spPr>
          <a:xfrm>
            <a:off x="9134856" y="3739896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8" name="Rounded Rectangle 17457"/>
          <p:cNvSpPr/>
          <p:nvPr/>
        </p:nvSpPr>
        <p:spPr>
          <a:xfrm>
            <a:off x="9326880" y="3328416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9418320" y="3557016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0" name="Picture 1745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3644798"/>
            <a:ext cx="190195" cy="190195"/>
          </a:xfrm>
          <a:prstGeom prst="rect">
            <a:avLst/>
          </a:prstGeom>
        </p:spPr>
      </p:pic>
      <p:sp>
        <p:nvSpPr>
          <p:cNvPr id="17461" name="TextBox 17460"/>
          <p:cNvSpPr txBox="1"/>
          <p:nvPr/>
        </p:nvSpPr>
        <p:spPr>
          <a:xfrm>
            <a:off x="9875520" y="3401568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Quantized, lazy load, WASM fallback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6720840" y="4261104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Oval 17462"/>
          <p:cNvSpPr/>
          <p:nvPr/>
        </p:nvSpPr>
        <p:spPr>
          <a:xfrm>
            <a:off x="6812280" y="4489704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4" name="Picture 17463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4577486"/>
            <a:ext cx="190195" cy="190195"/>
          </a:xfrm>
          <a:prstGeom prst="rect">
            <a:avLst/>
          </a:prstGeom>
        </p:spPr>
      </p:pic>
      <p:sp>
        <p:nvSpPr>
          <p:cNvPr id="17465" name="TextBox 17464"/>
          <p:cNvSpPr txBox="1"/>
          <p:nvPr/>
        </p:nvSpPr>
        <p:spPr>
          <a:xfrm>
            <a:off x="7269480" y="4334256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Planner hallucinates actions</a:t>
            </a:r>
          </a:p>
        </p:txBody>
      </p:sp>
      <p:cxnSp>
        <p:nvCxnSpPr>
          <p:cNvPr id="17466" name="Connector 17465"/>
          <p:cNvCxnSpPr/>
          <p:nvPr/>
        </p:nvCxnSpPr>
        <p:spPr>
          <a:xfrm>
            <a:off x="9134856" y="4672584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7" name="Rounded Rectangle 17466"/>
          <p:cNvSpPr/>
          <p:nvPr/>
        </p:nvSpPr>
        <p:spPr>
          <a:xfrm>
            <a:off x="9326880" y="4261104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Oval 17467"/>
          <p:cNvSpPr/>
          <p:nvPr/>
        </p:nvSpPr>
        <p:spPr>
          <a:xfrm>
            <a:off x="9418320" y="4489704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69" name="Picture 1746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4577486"/>
            <a:ext cx="190195" cy="190195"/>
          </a:xfrm>
          <a:prstGeom prst="rect">
            <a:avLst/>
          </a:prstGeom>
        </p:spPr>
      </p:pic>
      <p:sp>
        <p:nvSpPr>
          <p:cNvPr id="17470" name="TextBox 17469"/>
          <p:cNvSpPr txBox="1"/>
          <p:nvPr/>
        </p:nvSpPr>
        <p:spPr>
          <a:xfrm>
            <a:off x="9875520" y="4334256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Selectors only from real DOM; server guard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6720840" y="5193792"/>
            <a:ext cx="2395728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6812280" y="5422392"/>
            <a:ext cx="365760" cy="36576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3" name="Picture 17472" descr="war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062" y="5510174"/>
            <a:ext cx="190195" cy="190195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7269480" y="5266944"/>
            <a:ext cx="178308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E3B"/>
                </a:solidFill>
                <a:latin typeface="Calibri"/>
              </a:rPr>
              <a:t>Site CSP blocks ML workers</a:t>
            </a:r>
          </a:p>
        </p:txBody>
      </p:sp>
      <p:cxnSp>
        <p:nvCxnSpPr>
          <p:cNvPr id="17475" name="Connector 17474"/>
          <p:cNvCxnSpPr/>
          <p:nvPr/>
        </p:nvCxnSpPr>
        <p:spPr>
          <a:xfrm>
            <a:off x="9134856" y="5605272"/>
            <a:ext cx="182880" cy="0"/>
          </a:xfrm>
          <a:prstGeom prst="line">
            <a:avLst/>
          </a:prstGeom>
          <a:ln w="19050">
            <a:solidFill>
              <a:srgbClr val="5B667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6" name="Rounded Rectangle 17475"/>
          <p:cNvSpPr/>
          <p:nvPr/>
        </p:nvSpPr>
        <p:spPr>
          <a:xfrm>
            <a:off x="9326880" y="5193792"/>
            <a:ext cx="2450592" cy="822960"/>
          </a:xfrm>
          <a:prstGeom prst="roundRect">
            <a:avLst>
              <a:gd name="adj" fmla="val 12000"/>
            </a:avLst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Oval 17476"/>
          <p:cNvSpPr/>
          <p:nvPr/>
        </p:nvSpPr>
        <p:spPr>
          <a:xfrm>
            <a:off x="9418320" y="5422392"/>
            <a:ext cx="365760" cy="365760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78" name="Picture 1747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6102" y="5510174"/>
            <a:ext cx="190195" cy="190195"/>
          </a:xfrm>
          <a:prstGeom prst="rect">
            <a:avLst/>
          </a:prstGeom>
        </p:spPr>
      </p:pic>
      <p:sp>
        <p:nvSpPr>
          <p:cNvPr id="17479" name="TextBox 17478"/>
          <p:cNvSpPr txBox="1"/>
          <p:nvPr/>
        </p:nvSpPr>
        <p:spPr>
          <a:xfrm>
            <a:off x="9875520" y="5266944"/>
            <a:ext cx="1828800" cy="6766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E3B"/>
                </a:solidFill>
                <a:latin typeface="Calibri"/>
              </a:rPr>
              <a:t>ML runs in extension's offscreen document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Makes AI agents usable exactly where privacy matters most.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3" name="TextBox 17412"/>
          <p:cNvSpPr txBox="1"/>
          <p:nvPr/>
        </p:nvSpPr>
        <p:spPr>
          <a:xfrm>
            <a:off x="640080" y="1188720"/>
            <a:ext cx="548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0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1280160" y="1188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raw field values or PII pixels sent to the server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5196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4480560" y="1188720"/>
            <a:ext cx="54864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120640" y="1188720"/>
            <a:ext cx="265176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on-device models bundled in the extension, no CDN at runtime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092440" y="1143000"/>
            <a:ext cx="3657600" cy="10058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8321040" y="118872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&lt; 1 ms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10012680" y="1188720"/>
            <a:ext cx="160020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to fuse all detections into the redaction plan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11480" y="237744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Potential impact on the target audience</a:t>
            </a:r>
          </a:p>
        </p:txBody>
      </p:sp>
      <p:sp>
        <p:nvSpPr>
          <p:cNvPr id="17422" name="Oval 17421"/>
          <p:cNvSpPr/>
          <p:nvPr/>
        </p:nvSpPr>
        <p:spPr>
          <a:xfrm>
            <a:off x="411480" y="2788920"/>
            <a:ext cx="512064" cy="51206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3" name="Picture 17422" descr="land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375" y="2911815"/>
            <a:ext cx="266273" cy="266273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1051560" y="274320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Citizens on e-governance portals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051560" y="3035808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Agent helps fill Aadhaar, PAN, bank and scholarship forms while ID numbers stay on the device.</a:t>
            </a:r>
          </a:p>
        </p:txBody>
      </p:sp>
      <p:sp>
        <p:nvSpPr>
          <p:cNvPr id="17426" name="Oval 17425"/>
          <p:cNvSpPr/>
          <p:nvPr/>
        </p:nvSpPr>
        <p:spPr>
          <a:xfrm>
            <a:off x="411480" y="3904487"/>
            <a:ext cx="512064" cy="512064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7" name="Picture 17426" descr="shie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375" y="4027383"/>
            <a:ext cx="266273" cy="266273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1051560" y="385876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Government and enterprise staff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1051560" y="4151376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Cloud AI on internal portals without exposing confidential screens or employee data.</a:t>
            </a:r>
          </a:p>
        </p:txBody>
      </p:sp>
      <p:sp>
        <p:nvSpPr>
          <p:cNvPr id="17430" name="Oval 17429"/>
          <p:cNvSpPr/>
          <p:nvPr/>
        </p:nvSpPr>
        <p:spPr>
          <a:xfrm>
            <a:off x="411480" y="5020055"/>
            <a:ext cx="512064" cy="512064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1" name="Picture 17430" descr="acce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4375" y="5142951"/>
            <a:ext cx="266273" cy="266273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1051560" y="497433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B2A4A"/>
                </a:solidFill>
                <a:latin typeface="Calibri"/>
              </a:rPr>
              <a:t>Low-literacy and differently-abled users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1051560" y="526694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On-device voice input (Whisper) and a side panel make web tasks hands-free.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6355080" y="23774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Benefits of the solution (social, economic, environmental, etc.)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355080" y="2743200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6483096" y="2871216"/>
            <a:ext cx="402336" cy="40233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7" name="Picture 17436" descr="us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9656" y="2967776"/>
            <a:ext cx="209214" cy="209214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6976872" y="2926080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Social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483096" y="3383280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Trust in AI help; data minimisation in line with the DPDP Act 2023.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9116568" y="2743200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1" name="Oval 17440"/>
          <p:cNvSpPr/>
          <p:nvPr/>
        </p:nvSpPr>
        <p:spPr>
          <a:xfrm>
            <a:off x="9244584" y="2871216"/>
            <a:ext cx="402336" cy="40233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2" name="Picture 17441" descr="rupe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41144" y="2967776"/>
            <a:ext cx="209214" cy="209214"/>
          </a:xfrm>
          <a:prstGeom prst="rect">
            <a:avLst/>
          </a:prstGeom>
        </p:spPr>
      </p:pic>
      <p:sp>
        <p:nvSpPr>
          <p:cNvPr id="17443" name="TextBox 17442"/>
          <p:cNvSpPr txBox="1"/>
          <p:nvPr/>
        </p:nvSpPr>
        <p:spPr>
          <a:xfrm>
            <a:off x="9738360" y="2926080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E8E4A"/>
                </a:solidFill>
                <a:latin typeface="Calibri"/>
              </a:rPr>
              <a:t>Economic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9244584" y="3383280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Perception runs on the client; open-weights server model, no vendor lock-in.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6355080" y="4352544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6483096" y="4480559"/>
            <a:ext cx="402336" cy="402336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47" name="Picture 17446" descr="lo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9656" y="4577120"/>
            <a:ext cx="209214" cy="209214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6976872" y="4535424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Security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6483096" y="4992624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Server never stores raw PII, so a server breach leaks nothing personal.</a:t>
            </a:r>
          </a:p>
        </p:txBody>
      </p:sp>
      <p:sp>
        <p:nvSpPr>
          <p:cNvPr id="17450" name="Rounded Rectangle 17449"/>
          <p:cNvSpPr/>
          <p:nvPr/>
        </p:nvSpPr>
        <p:spPr>
          <a:xfrm>
            <a:off x="9116568" y="4352544"/>
            <a:ext cx="2633472" cy="1481328"/>
          </a:xfrm>
          <a:prstGeom prst="roundRect">
            <a:avLst>
              <a:gd name="adj" fmla="val 8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9244584" y="4480559"/>
            <a:ext cx="402336" cy="402336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52" name="Picture 17451" descr="bo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41144" y="4577120"/>
            <a:ext cx="209214" cy="20921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9738360" y="4535424"/>
            <a:ext cx="190195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Environmental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9244584" y="4992624"/>
            <a:ext cx="2377439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262E3B"/>
                </a:solidFill>
                <a:latin typeface="Calibri"/>
              </a:rPr>
              <a:t>Less server GPU work and smaller payloads per step.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737360" y="109728"/>
            <a:ext cx="7863840" cy="566928"/>
          </a:xfrm>
        </p:spPr>
        <p:txBody>
          <a:bodyPr wrap="square" anchor="ctr" tIns="0" bIns="0">
            <a:noAutofit/>
          </a:bodyPr>
          <a:lstStyle/>
          <a:p>
            <a:pPr eaLnBrk="1" hangingPunct="1" algn="ctr"/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sz="1500" b="1"/>
              <a:t>HexaBits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1737360" y="694944"/>
            <a:ext cx="7863840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5B6675"/>
                </a:solidFill>
                <a:latin typeface="Calibri"/>
              </a:rPr>
              <a:t>Every model and runtime below is open-source or open-weights.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1155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Details / Links of the reference and research work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57784" y="1609344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15" name="Picture 17414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955" y="1701515"/>
            <a:ext cx="199704" cy="199704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1051560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7722"/>
                </a:solidFill>
                <a:latin typeface="Calibri"/>
              </a:rPr>
              <a:t>On-device models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576072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Florence-2 (ViT)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Xiao et al., CVPR 2024, arXiv:2311.06242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BlazeFace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Bazarevsky et al., arXiv:1907.05047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YOLOv8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github.com/ultralytics/ultralytics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BERT NER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Devlin et al., arXiv:1810.04805; hf.co/Xenova/bert-base-NER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Whisper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Radford et al., arXiv:2212.04356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Tesseract OCR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github.com/naptha/tesseract.js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70248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416552" y="1609344"/>
            <a:ext cx="384048" cy="384048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0" name="Picture 17419" descr="co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8723" y="1701515"/>
            <a:ext cx="199704" cy="199704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4910328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070C0"/>
                </a:solidFill>
                <a:latin typeface="Calibri"/>
              </a:rPr>
              <a:t>Runtimes and platform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434840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ONNX Runtime Web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onnxruntime.ai/docs/tutorials/web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Transformers.js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huggingface.co/docs/transformers.js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WebGPU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w3.org/TR/webgpu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MediaPipe Tasks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ai.google.dev/edge/mediapipe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Chrome Offscreen API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developer.chrome.com/docs/extensions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FastAPI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fastapi.tiangolo.com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129015" y="1481328"/>
            <a:ext cx="3657600" cy="352044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8275319" y="16093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25" name="Picture 17424" descr="boo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7491" y="1701515"/>
            <a:ext cx="199704" cy="199704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8769095" y="1645920"/>
            <a:ext cx="292608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B2A4A"/>
                </a:solidFill>
                <a:latin typeface="Calibri"/>
              </a:rPr>
              <a:t>Web agents and policy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8293607" y="2103120"/>
            <a:ext cx="3364992" cy="2834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SeeAct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Zheng et al., ICML 2024, arXiv:2401.01614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Mind2Web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Deng et al., NeurIPS 2023, arXiv:2306.06070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Llama 3.2 Vision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hf.co/meta-llama/Llama-3.2-11B-Vision-Instruct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DPDP Act 2023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meity.gov.in, Digital Personal Data Protection Act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1B2A4A"/>
                </a:solidFill>
                <a:latin typeface="Calibri"/>
              </a:rPr>
              <a:t>SIH 2026 PS 26171</a:t>
            </a:r>
          </a:p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B6675"/>
                </a:solidFill>
                <a:latin typeface="Calibri"/>
              </a:rPr>
              <a:t>ISRO / SAC, On-device Visual Perception for Browser Agents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1480" y="5138928"/>
            <a:ext cx="11375136" cy="987552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594360" y="5349240"/>
            <a:ext cx="566928" cy="566928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430" name="Picture 17429" descr="flas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422" y="5485302"/>
            <a:ext cx="294802" cy="294802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1325880" y="5230368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Our own research: working prototype + reproducible eval harness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1325880" y="5522976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MV3 extension + FastAPI server built and running. Eval (eval/results.md) runs the real redaction code on a labelled fixture: 5/5 sensitive fields redacted, 0/2 false positives, 0 Luhn-invalid card hits, fusion in 0.85 ms.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7514</TotalTime>
  <Words>333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sanskaar undale</cp:lastModifiedBy>
  <cp:revision>149</cp:revision>
  <dcterms:created xsi:type="dcterms:W3CDTF">2013-12-12T18:46:50Z</dcterms:created>
  <dcterms:modified xsi:type="dcterms:W3CDTF">2026-09-15T08:50:25Z</dcterms:modified>
  <cp:category/>
</cp:coreProperties>
</file>