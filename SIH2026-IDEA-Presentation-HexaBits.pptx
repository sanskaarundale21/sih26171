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8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9/15/2026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9/15/2026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9/15/2026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image" Target="../media/image10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6.png"/><Relationship Id="rId9" Type="http://schemas.openxmlformats.org/officeDocument/2006/relationships/image" Target="../media/image17.png"/><Relationship Id="rId10" Type="http://schemas.openxmlformats.org/officeDocument/2006/relationships/image" Target="../media/image1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8050537" y="1863466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103120"/>
            <a:ext cx="5924550" cy="40233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lnSpc>
                <a:spcPct val="105000"/>
              </a:lnSpc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en-US" sz="1900" b="1" dirty="0">
                <a:solidFill>
                  <a:srgbClr val="1B2A4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Problem Statement ID – </a:t>
            </a:r>
            <a:r>
              <a:rPr lang="en-US" sz="1900" b="0" dirty="0">
                <a:solidFill>
                  <a:srgbClr val="262E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SIH26171</a:t>
            </a:r>
            <a:endParaRPr lang="en-US" dirty="0"/>
          </a:p>
          <a:p>
            <a:pPr marL="285750" indent="-285750" algn="l">
              <a:lnSpc>
                <a:spcPct val="105000"/>
              </a:lnSpc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en-US" sz="1900" b="1" dirty="0">
                <a:solidFill>
                  <a:srgbClr val="1B2A4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Problem Statement Title – </a:t>
            </a:r>
            <a:r>
              <a:rPr lang="en-US" sz="1900" b="0" dirty="0">
                <a:solidFill>
                  <a:srgbClr val="262E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On-device Visual Perception for Light-weight Browser Agents</a:t>
            </a:r>
          </a:p>
          <a:p>
            <a:pPr marL="285750" indent="-285750" algn="l">
              <a:lnSpc>
                <a:spcPct val="105000"/>
              </a:lnSpc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en-US" sz="1900" b="1" dirty="0">
                <a:solidFill>
                  <a:srgbClr val="1B2A4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Theme – </a:t>
            </a:r>
            <a:r>
              <a:rPr lang="en-US" sz="1900" b="0" dirty="0">
                <a:solidFill>
                  <a:srgbClr val="262E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Miscellaneous</a:t>
            </a:r>
          </a:p>
          <a:p>
            <a:pPr marL="285750" indent="-285750" algn="l">
              <a:lnSpc>
                <a:spcPct val="105000"/>
              </a:lnSpc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en-US" sz="1900" b="1" dirty="0">
                <a:solidFill>
                  <a:srgbClr val="1B2A4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PS Category – </a:t>
            </a:r>
            <a:r>
              <a:rPr lang="en-US" sz="1900" b="0" dirty="0">
                <a:solidFill>
                  <a:srgbClr val="262E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Software</a:t>
            </a:r>
          </a:p>
          <a:p>
            <a:pPr marL="285750" indent="-285750" algn="l">
              <a:lnSpc>
                <a:spcPct val="105000"/>
              </a:lnSpc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en-US" sz="1900" b="1" dirty="0">
                <a:solidFill>
                  <a:srgbClr val="1B2A4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Team ID – </a:t>
            </a:r>
          </a:p>
          <a:p>
            <a:pPr marL="285750" indent="-285750" algn="l">
              <a:lnSpc>
                <a:spcPct val="105000"/>
              </a:lnSpc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en-US" sz="1900" b="1" dirty="0">
                <a:solidFill>
                  <a:srgbClr val="1B2A4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Team Name – </a:t>
            </a:r>
            <a:r>
              <a:rPr lang="en-US" sz="1900" b="0" dirty="0">
                <a:solidFill>
                  <a:srgbClr val="262E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HexaBits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B5D3BC4-B94D-1FC3-589C-E7DB4B1AF431}"/>
              </a:ext>
            </a:extLst>
          </p:cNvPr>
          <p:cNvSpPr txBox="1"/>
          <p:nvPr/>
        </p:nvSpPr>
        <p:spPr>
          <a:xfrm>
            <a:off x="7865806" y="410005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737360" y="109728"/>
            <a:ext cx="7863840" cy="566928"/>
          </a:xfrm>
        </p:spPr>
        <p:txBody>
          <a:bodyPr wrap="square" anchor="ctr" tIns="0" bIns="0">
            <a:noAutofit/>
          </a:bodyPr>
          <a:lstStyle/>
          <a:p>
            <a:pPr eaLnBrk="1" hangingPunct="1" algn="ctr"/>
            <a:r>
              <a:rPr lang="en-US" sz="30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FUSION PRIVACY AGENT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0" rIns="0"/>
          <a:lstStyle/>
          <a:p>
            <a:pPr algn="ctr"/>
            <a:r>
              <a:rPr lang="en-US" dirty="0" sz="1500" b="1"/>
              <a:t>HexaBits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3" name="TextBox 15362"/>
          <p:cNvSpPr txBox="1"/>
          <p:nvPr/>
        </p:nvSpPr>
        <p:spPr>
          <a:xfrm>
            <a:off x="1737360" y="694944"/>
            <a:ext cx="786384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1300" b="0" i="1">
                <a:solidFill>
                  <a:srgbClr val="5B6675"/>
                </a:solidFill>
                <a:latin typeface="Calibri"/>
              </a:rPr>
              <a:t>See locally. Redact locally. Only then ask the server.</a:t>
            </a:r>
          </a:p>
        </p:txBody>
      </p:sp>
      <p:sp>
        <p:nvSpPr>
          <p:cNvPr id="15364" name="TextBox 15363"/>
          <p:cNvSpPr txBox="1"/>
          <p:nvPr/>
        </p:nvSpPr>
        <p:spPr>
          <a:xfrm>
            <a:off x="411480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070C0"/>
                </a:solidFill>
                <a:latin typeface="Calibri"/>
              </a:rPr>
              <a:t>Proposed Solution (Describe your Idea/Solution/Prototype)</a:t>
            </a:r>
          </a:p>
        </p:txBody>
      </p:sp>
      <p:sp>
        <p:nvSpPr>
          <p:cNvPr id="15365" name="TextBox 15364"/>
          <p:cNvSpPr txBox="1"/>
          <p:nvPr/>
        </p:nvSpPr>
        <p:spPr>
          <a:xfrm>
            <a:off x="411480" y="1389888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B6675"/>
                </a:solidFill>
                <a:latin typeface="Calibri"/>
              </a:rPr>
              <a:t>A browser extension that reads the screen with on-device vision models, masks every sensitive region locally, and lets a server VLM plan actions from the masked view only.</a:t>
            </a:r>
          </a:p>
        </p:txBody>
      </p:sp>
      <p:sp>
        <p:nvSpPr>
          <p:cNvPr id="15366" name="Rounded Rectangle 15365"/>
          <p:cNvSpPr/>
          <p:nvPr/>
        </p:nvSpPr>
        <p:spPr>
          <a:xfrm>
            <a:off x="411480" y="1847088"/>
            <a:ext cx="2048256" cy="1261872"/>
          </a:xfrm>
          <a:prstGeom prst="roundRect">
            <a:avLst>
              <a:gd name="adj" fmla="val 100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67" name="Oval 15366"/>
          <p:cNvSpPr/>
          <p:nvPr/>
        </p:nvSpPr>
        <p:spPr>
          <a:xfrm>
            <a:off x="539496" y="1975104"/>
            <a:ext cx="420624" cy="420624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68" name="Picture 15367" descr="ey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445" y="2076053"/>
            <a:ext cx="218724" cy="218724"/>
          </a:xfrm>
          <a:prstGeom prst="rect">
            <a:avLst/>
          </a:prstGeom>
        </p:spPr>
      </p:pic>
      <p:sp>
        <p:nvSpPr>
          <p:cNvPr id="15369" name="TextBox 15368"/>
          <p:cNvSpPr txBox="1"/>
          <p:nvPr/>
        </p:nvSpPr>
        <p:spPr>
          <a:xfrm>
            <a:off x="1051560" y="2029968"/>
            <a:ext cx="1316736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070C0"/>
                </a:solidFill>
                <a:latin typeface="Calibri"/>
              </a:rPr>
              <a:t>1  SEE</a:t>
            </a:r>
          </a:p>
        </p:txBody>
      </p:sp>
      <p:sp>
        <p:nvSpPr>
          <p:cNvPr id="15370" name="TextBox 15369"/>
          <p:cNvSpPr txBox="1"/>
          <p:nvPr/>
        </p:nvSpPr>
        <p:spPr>
          <a:xfrm>
            <a:off x="539496" y="2468880"/>
            <a:ext cx="1792224" cy="6035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E3B"/>
                </a:solidFill>
                <a:latin typeface="Calibri"/>
              </a:rPr>
              <a:t>Florence-2 (ViT), YOLOv8n and OCR read the screen on WebGPU</a:t>
            </a:r>
          </a:p>
        </p:txBody>
      </p:sp>
      <p:cxnSp>
        <p:nvCxnSpPr>
          <p:cNvPr id="15371" name="Connector 15370"/>
          <p:cNvCxnSpPr/>
          <p:nvPr/>
        </p:nvCxnSpPr>
        <p:spPr>
          <a:xfrm>
            <a:off x="2487168" y="2478024"/>
            <a:ext cx="219456" cy="0"/>
          </a:xfrm>
          <a:prstGeom prst="line">
            <a:avLst/>
          </a:prstGeom>
          <a:ln w="19050">
            <a:solidFill>
              <a:srgbClr val="5B667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2" name="Rounded Rectangle 15371"/>
          <p:cNvSpPr/>
          <p:nvPr/>
        </p:nvSpPr>
        <p:spPr>
          <a:xfrm>
            <a:off x="2734056" y="1847088"/>
            <a:ext cx="2048256" cy="1261872"/>
          </a:xfrm>
          <a:prstGeom prst="roundRect">
            <a:avLst>
              <a:gd name="adj" fmla="val 10000"/>
            </a:avLst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73" name="Oval 15372"/>
          <p:cNvSpPr/>
          <p:nvPr/>
        </p:nvSpPr>
        <p:spPr>
          <a:xfrm>
            <a:off x="2862072" y="1975104"/>
            <a:ext cx="420624" cy="420624"/>
          </a:xfrm>
          <a:prstGeom prst="ellipse">
            <a:avLst/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74" name="Picture 15373" descr="c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63021" y="2076053"/>
            <a:ext cx="218724" cy="218724"/>
          </a:xfrm>
          <a:prstGeom prst="rect">
            <a:avLst/>
          </a:prstGeom>
        </p:spPr>
      </p:pic>
      <p:sp>
        <p:nvSpPr>
          <p:cNvPr id="15375" name="TextBox 15374"/>
          <p:cNvSpPr txBox="1"/>
          <p:nvPr/>
        </p:nvSpPr>
        <p:spPr>
          <a:xfrm>
            <a:off x="3374136" y="2029968"/>
            <a:ext cx="1316736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87722"/>
                </a:solidFill>
                <a:latin typeface="Calibri"/>
              </a:rPr>
              <a:t>2  DETECT</a:t>
            </a:r>
          </a:p>
        </p:txBody>
      </p:sp>
      <p:sp>
        <p:nvSpPr>
          <p:cNvPr id="15376" name="TextBox 15375"/>
          <p:cNvSpPr txBox="1"/>
          <p:nvPr/>
        </p:nvSpPr>
        <p:spPr>
          <a:xfrm>
            <a:off x="2862072" y="2468880"/>
            <a:ext cx="1792224" cy="6035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E3B"/>
                </a:solidFill>
                <a:latin typeface="Calibri"/>
              </a:rPr>
              <a:t>DOM tags, regex, NER and BlazeFace find PII and faces</a:t>
            </a:r>
          </a:p>
        </p:txBody>
      </p:sp>
      <p:cxnSp>
        <p:nvCxnSpPr>
          <p:cNvPr id="15377" name="Connector 15376"/>
          <p:cNvCxnSpPr/>
          <p:nvPr/>
        </p:nvCxnSpPr>
        <p:spPr>
          <a:xfrm>
            <a:off x="4809744" y="2478024"/>
            <a:ext cx="219456" cy="0"/>
          </a:xfrm>
          <a:prstGeom prst="line">
            <a:avLst/>
          </a:prstGeom>
          <a:ln w="19050">
            <a:solidFill>
              <a:srgbClr val="5B667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8" name="Rounded Rectangle 15377"/>
          <p:cNvSpPr/>
          <p:nvPr/>
        </p:nvSpPr>
        <p:spPr>
          <a:xfrm>
            <a:off x="5056632" y="1847088"/>
            <a:ext cx="2048256" cy="1261872"/>
          </a:xfrm>
          <a:prstGeom prst="roundRect">
            <a:avLst>
              <a:gd name="adj" fmla="val 10000"/>
            </a:avLst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79" name="Oval 15378"/>
          <p:cNvSpPr/>
          <p:nvPr/>
        </p:nvSpPr>
        <p:spPr>
          <a:xfrm>
            <a:off x="5184648" y="1975104"/>
            <a:ext cx="420624" cy="420624"/>
          </a:xfrm>
          <a:prstGeom prst="ellipse">
            <a:avLst/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80" name="Picture 15379" descr="eyeSlas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85597" y="2076053"/>
            <a:ext cx="218724" cy="218724"/>
          </a:xfrm>
          <a:prstGeom prst="rect">
            <a:avLst/>
          </a:prstGeom>
        </p:spPr>
      </p:pic>
      <p:sp>
        <p:nvSpPr>
          <p:cNvPr id="15381" name="TextBox 15380"/>
          <p:cNvSpPr txBox="1"/>
          <p:nvPr/>
        </p:nvSpPr>
        <p:spPr>
          <a:xfrm>
            <a:off x="5696712" y="2029968"/>
            <a:ext cx="1316736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87722"/>
                </a:solidFill>
                <a:latin typeface="Calibri"/>
              </a:rPr>
              <a:t>3  REDACT</a:t>
            </a:r>
          </a:p>
        </p:txBody>
      </p:sp>
      <p:sp>
        <p:nvSpPr>
          <p:cNvPr id="15382" name="TextBox 15381"/>
          <p:cNvSpPr txBox="1"/>
          <p:nvPr/>
        </p:nvSpPr>
        <p:spPr>
          <a:xfrm>
            <a:off x="5184648" y="2468880"/>
            <a:ext cx="1792224" cy="6035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E3B"/>
                </a:solidFill>
                <a:latin typeface="Calibri"/>
              </a:rPr>
              <a:t>Masks drawn on-device before any network request</a:t>
            </a:r>
          </a:p>
        </p:txBody>
      </p:sp>
      <p:cxnSp>
        <p:nvCxnSpPr>
          <p:cNvPr id="15383" name="Connector 15382"/>
          <p:cNvCxnSpPr/>
          <p:nvPr/>
        </p:nvCxnSpPr>
        <p:spPr>
          <a:xfrm>
            <a:off x="7132320" y="2478024"/>
            <a:ext cx="219456" cy="0"/>
          </a:xfrm>
          <a:prstGeom prst="line">
            <a:avLst/>
          </a:prstGeom>
          <a:ln w="19050">
            <a:solidFill>
              <a:srgbClr val="5B667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84" name="Rounded Rectangle 15383"/>
          <p:cNvSpPr/>
          <p:nvPr/>
        </p:nvSpPr>
        <p:spPr>
          <a:xfrm>
            <a:off x="7379208" y="1847088"/>
            <a:ext cx="2048256" cy="1261872"/>
          </a:xfrm>
          <a:prstGeom prst="roundRect">
            <a:avLst>
              <a:gd name="adj" fmla="val 10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85" name="Oval 15384"/>
          <p:cNvSpPr/>
          <p:nvPr/>
        </p:nvSpPr>
        <p:spPr>
          <a:xfrm>
            <a:off x="7507224" y="1975104"/>
            <a:ext cx="420624" cy="420624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86" name="Picture 15385" descr="serv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08173" y="2076053"/>
            <a:ext cx="218724" cy="218724"/>
          </a:xfrm>
          <a:prstGeom prst="rect">
            <a:avLst/>
          </a:prstGeom>
        </p:spPr>
      </p:pic>
      <p:sp>
        <p:nvSpPr>
          <p:cNvPr id="15387" name="TextBox 15386"/>
          <p:cNvSpPr txBox="1"/>
          <p:nvPr/>
        </p:nvSpPr>
        <p:spPr>
          <a:xfrm>
            <a:off x="8019288" y="2029968"/>
            <a:ext cx="1316736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B2A4A"/>
                </a:solidFill>
                <a:latin typeface="Calibri"/>
              </a:rPr>
              <a:t>4  PLAN</a:t>
            </a:r>
          </a:p>
        </p:txBody>
      </p:sp>
      <p:sp>
        <p:nvSpPr>
          <p:cNvPr id="15388" name="TextBox 15387"/>
          <p:cNvSpPr txBox="1"/>
          <p:nvPr/>
        </p:nvSpPr>
        <p:spPr>
          <a:xfrm>
            <a:off x="7507224" y="2468880"/>
            <a:ext cx="1792224" cy="6035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E3B"/>
                </a:solidFill>
                <a:latin typeface="Calibri"/>
              </a:rPr>
              <a:t>Server VLM gets masked image + redaction manifest</a:t>
            </a:r>
          </a:p>
        </p:txBody>
      </p:sp>
      <p:cxnSp>
        <p:nvCxnSpPr>
          <p:cNvPr id="15389" name="Connector 15388"/>
          <p:cNvCxnSpPr/>
          <p:nvPr/>
        </p:nvCxnSpPr>
        <p:spPr>
          <a:xfrm>
            <a:off x="9454896" y="2478024"/>
            <a:ext cx="219456" cy="0"/>
          </a:xfrm>
          <a:prstGeom prst="line">
            <a:avLst/>
          </a:prstGeom>
          <a:ln w="19050">
            <a:solidFill>
              <a:srgbClr val="5B667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90" name="Rounded Rectangle 15389"/>
          <p:cNvSpPr/>
          <p:nvPr/>
        </p:nvSpPr>
        <p:spPr>
          <a:xfrm>
            <a:off x="9701784" y="1847088"/>
            <a:ext cx="2048256" cy="1261872"/>
          </a:xfrm>
          <a:prstGeom prst="roundRect">
            <a:avLst>
              <a:gd name="adj" fmla="val 10000"/>
            </a:avLst>
          </a:prstGeom>
          <a:solidFill>
            <a:srgbClr val="E7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91" name="Oval 15390"/>
          <p:cNvSpPr/>
          <p:nvPr/>
        </p:nvSpPr>
        <p:spPr>
          <a:xfrm>
            <a:off x="9829800" y="1975104"/>
            <a:ext cx="420624" cy="420624"/>
          </a:xfrm>
          <a:prstGeom prst="ellipse">
            <a:avLst/>
          </a:prstGeom>
          <a:solidFill>
            <a:srgbClr val="1E8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92" name="Picture 15391" descr="clic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30749" y="2076053"/>
            <a:ext cx="218724" cy="218724"/>
          </a:xfrm>
          <a:prstGeom prst="rect">
            <a:avLst/>
          </a:prstGeom>
        </p:spPr>
      </p:pic>
      <p:sp>
        <p:nvSpPr>
          <p:cNvPr id="15393" name="TextBox 15392"/>
          <p:cNvSpPr txBox="1"/>
          <p:nvPr/>
        </p:nvSpPr>
        <p:spPr>
          <a:xfrm>
            <a:off x="10341863" y="2029968"/>
            <a:ext cx="1316736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E8E4A"/>
                </a:solidFill>
                <a:latin typeface="Calibri"/>
              </a:rPr>
              <a:t>5  ACT</a:t>
            </a:r>
          </a:p>
        </p:txBody>
      </p:sp>
      <p:sp>
        <p:nvSpPr>
          <p:cNvPr id="15394" name="TextBox 15393"/>
          <p:cNvSpPr txBox="1"/>
          <p:nvPr/>
        </p:nvSpPr>
        <p:spPr>
          <a:xfrm>
            <a:off x="9829800" y="2468880"/>
            <a:ext cx="1792224" cy="6035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E3B"/>
                </a:solidFill>
                <a:latin typeface="Calibri"/>
              </a:rPr>
              <a:t>Extension clicks, types, scrolls, loops until done</a:t>
            </a:r>
          </a:p>
        </p:txBody>
      </p:sp>
      <p:sp>
        <p:nvSpPr>
          <p:cNvPr id="15395" name="Rectangle 15394"/>
          <p:cNvSpPr/>
          <p:nvPr/>
        </p:nvSpPr>
        <p:spPr>
          <a:xfrm>
            <a:off x="7232904" y="1737360"/>
            <a:ext cx="18288" cy="1481328"/>
          </a:xfrm>
          <a:prstGeom prst="rect">
            <a:avLst/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96" name="TextBox 15395"/>
          <p:cNvSpPr txBox="1"/>
          <p:nvPr/>
        </p:nvSpPr>
        <p:spPr>
          <a:xfrm>
            <a:off x="5779008" y="3182112"/>
            <a:ext cx="292608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1">
                <a:solidFill>
                  <a:srgbClr val="E87722"/>
                </a:solidFill>
                <a:latin typeface="Calibri"/>
              </a:rPr>
              <a:t>device boundary: only masked data crosses</a:t>
            </a:r>
          </a:p>
        </p:txBody>
      </p:sp>
      <p:sp>
        <p:nvSpPr>
          <p:cNvPr id="15397" name="TextBox 15396"/>
          <p:cNvSpPr txBox="1"/>
          <p:nvPr/>
        </p:nvSpPr>
        <p:spPr>
          <a:xfrm>
            <a:off x="411480" y="3493008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070C0"/>
                </a:solidFill>
                <a:latin typeface="Calibri"/>
              </a:rPr>
              <a:t>How it addresses the problem</a:t>
            </a:r>
          </a:p>
        </p:txBody>
      </p:sp>
      <p:sp>
        <p:nvSpPr>
          <p:cNvPr id="15398" name="TextBox 15397"/>
          <p:cNvSpPr txBox="1"/>
          <p:nvPr/>
        </p:nvSpPr>
        <p:spPr>
          <a:xfrm>
            <a:off x="411480" y="3840480"/>
            <a:ext cx="4846320" cy="23774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46304" indent="-146304">
              <a:spcAft>
                <a:spcPts val="700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262E3B"/>
                </a:solidFill>
                <a:latin typeface="Calibri"/>
              </a:rPr>
              <a:t>Sensitive pixels never leave the browser: </a:t>
            </a:r>
            <a:r>
              <a:rPr sz="1150" b="0" i="0">
                <a:solidFill>
                  <a:srgbClr val="262E3B"/>
                </a:solidFill>
                <a:latin typeface="Calibri"/>
              </a:rPr>
              <a:t>passwords, IDs, faces and PII are masked on-device first.</a:t>
            </a:r>
          </a:p>
          <a:p>
            <a:pPr algn="l" marL="146304" indent="-146304">
              <a:spcAft>
                <a:spcPts val="700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262E3B"/>
                </a:solidFill>
                <a:latin typeface="Calibri"/>
              </a:rPr>
              <a:t>Server stays useful: </a:t>
            </a:r>
            <a:r>
              <a:rPr sz="1150" b="0" i="0">
                <a:solidFill>
                  <a:srgbClr val="262E3B"/>
                </a:solidFill>
                <a:latin typeface="Calibri"/>
              </a:rPr>
              <a:t>the redaction manifest tells it what kind of field sits where, so it can still plan.</a:t>
            </a:r>
          </a:p>
          <a:p>
            <a:pPr algn="l" marL="146304" indent="-146304">
              <a:spcAft>
                <a:spcPts val="700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262E3B"/>
                </a:solidFill>
                <a:latin typeface="Calibri"/>
              </a:rPr>
              <a:t>Light enough for a laptop: </a:t>
            </a:r>
            <a:r>
              <a:rPr sz="1150" b="0" i="0">
                <a:solidFill>
                  <a:srgbClr val="262E3B"/>
                </a:solidFill>
                <a:latin typeface="Calibri"/>
              </a:rPr>
              <a:t>quantized models, WebGPU with WASM fallback, all bundled offline.</a:t>
            </a:r>
          </a:p>
          <a:p>
            <a:pPr algn="l" marL="146304" indent="-146304">
              <a:spcAft>
                <a:spcPts val="700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262E3B"/>
                </a:solidFill>
                <a:latin typeface="Calibri"/>
              </a:rPr>
              <a:t>End-to-end: </a:t>
            </a:r>
            <a:r>
              <a:rPr sz="1150" b="0" i="0">
                <a:solidFill>
                  <a:srgbClr val="262E3B"/>
                </a:solidFill>
                <a:latin typeface="Calibri"/>
              </a:rPr>
              <a:t>a multi-step agent loop completes real form tasks, with user confirmation on submit or pay.</a:t>
            </a:r>
          </a:p>
        </p:txBody>
      </p:sp>
      <p:sp>
        <p:nvSpPr>
          <p:cNvPr id="15399" name="TextBox 15398"/>
          <p:cNvSpPr txBox="1"/>
          <p:nvPr/>
        </p:nvSpPr>
        <p:spPr>
          <a:xfrm>
            <a:off x="5577840" y="349300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070C0"/>
                </a:solidFill>
                <a:latin typeface="Calibri"/>
              </a:rPr>
              <a:t>Innovation and uniqueness of the solution</a:t>
            </a:r>
          </a:p>
        </p:txBody>
      </p:sp>
      <p:sp>
        <p:nvSpPr>
          <p:cNvPr id="15400" name="Rounded Rectangle 15399"/>
          <p:cNvSpPr/>
          <p:nvPr/>
        </p:nvSpPr>
        <p:spPr>
          <a:xfrm>
            <a:off x="5577840" y="3858768"/>
            <a:ext cx="2999232" cy="1133856"/>
          </a:xfrm>
          <a:prstGeom prst="roundRect">
            <a:avLst>
              <a:gd name="adj" fmla="val 10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01" name="Oval 15400"/>
          <p:cNvSpPr/>
          <p:nvPr/>
        </p:nvSpPr>
        <p:spPr>
          <a:xfrm>
            <a:off x="5687568" y="3986783"/>
            <a:ext cx="384048" cy="384048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402" name="Picture 15401" descr="layer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79739" y="4078955"/>
            <a:ext cx="199704" cy="199704"/>
          </a:xfrm>
          <a:prstGeom prst="rect">
            <a:avLst/>
          </a:prstGeom>
        </p:spPr>
      </p:pic>
      <p:sp>
        <p:nvSpPr>
          <p:cNvPr id="15403" name="TextBox 15402"/>
          <p:cNvSpPr txBox="1"/>
          <p:nvPr/>
        </p:nvSpPr>
        <p:spPr>
          <a:xfrm>
            <a:off x="6163055" y="4041648"/>
            <a:ext cx="2340863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B2A4A"/>
                </a:solidFill>
                <a:latin typeface="Calibri"/>
              </a:rPr>
              <a:t>Confidence fusion</a:t>
            </a:r>
          </a:p>
        </p:txBody>
      </p:sp>
      <p:sp>
        <p:nvSpPr>
          <p:cNvPr id="15404" name="TextBox 15403"/>
          <p:cNvSpPr txBox="1"/>
          <p:nvPr/>
        </p:nvSpPr>
        <p:spPr>
          <a:xfrm>
            <a:off x="5687568" y="4443983"/>
            <a:ext cx="2779776" cy="530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E3B"/>
                </a:solidFill>
                <a:latin typeface="Calibri"/>
              </a:rPr>
              <a:t>Detectors vote with noisy-OR; a weak lone hit is still masked (fail-safe).</a:t>
            </a:r>
          </a:p>
        </p:txBody>
      </p:sp>
      <p:sp>
        <p:nvSpPr>
          <p:cNvPr id="15405" name="Rounded Rectangle 15404"/>
          <p:cNvSpPr/>
          <p:nvPr/>
        </p:nvSpPr>
        <p:spPr>
          <a:xfrm>
            <a:off x="8723376" y="3858768"/>
            <a:ext cx="2999232" cy="1133856"/>
          </a:xfrm>
          <a:prstGeom prst="roundRect">
            <a:avLst>
              <a:gd name="adj" fmla="val 10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06" name="Oval 15405"/>
          <p:cNvSpPr/>
          <p:nvPr/>
        </p:nvSpPr>
        <p:spPr>
          <a:xfrm>
            <a:off x="8833103" y="3986783"/>
            <a:ext cx="384048" cy="384048"/>
          </a:xfrm>
          <a:prstGeom prst="ellipse">
            <a:avLst/>
          </a:prstGeom>
          <a:solidFill>
            <a:srgbClr val="1E8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407" name="Picture 15406" descr="check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925275" y="4078955"/>
            <a:ext cx="199704" cy="199704"/>
          </a:xfrm>
          <a:prstGeom prst="rect">
            <a:avLst/>
          </a:prstGeom>
        </p:spPr>
      </p:pic>
      <p:sp>
        <p:nvSpPr>
          <p:cNvPr id="15408" name="TextBox 15407"/>
          <p:cNvSpPr txBox="1"/>
          <p:nvPr/>
        </p:nvSpPr>
        <p:spPr>
          <a:xfrm>
            <a:off x="9308592" y="4041648"/>
            <a:ext cx="2340863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B2A4A"/>
                </a:solidFill>
                <a:latin typeface="Calibri"/>
              </a:rPr>
              <a:t>DOM-wins safe zones</a:t>
            </a:r>
          </a:p>
        </p:txBody>
      </p:sp>
      <p:sp>
        <p:nvSpPr>
          <p:cNvPr id="15409" name="TextBox 15408"/>
          <p:cNvSpPr txBox="1"/>
          <p:nvPr/>
        </p:nvSpPr>
        <p:spPr>
          <a:xfrm>
            <a:off x="8833103" y="4443983"/>
            <a:ext cx="2779776" cy="530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E3B"/>
                </a:solidFill>
                <a:latin typeface="Calibri"/>
              </a:rPr>
              <a:t>DOM structure overrides vision false positives, cutting over-redaction.</a:t>
            </a:r>
          </a:p>
        </p:txBody>
      </p:sp>
      <p:sp>
        <p:nvSpPr>
          <p:cNvPr id="15410" name="Rounded Rectangle 15409"/>
          <p:cNvSpPr/>
          <p:nvPr/>
        </p:nvSpPr>
        <p:spPr>
          <a:xfrm>
            <a:off x="5577840" y="5120640"/>
            <a:ext cx="2999232" cy="1133856"/>
          </a:xfrm>
          <a:prstGeom prst="roundRect">
            <a:avLst>
              <a:gd name="adj" fmla="val 10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11" name="Oval 15410"/>
          <p:cNvSpPr/>
          <p:nvPr/>
        </p:nvSpPr>
        <p:spPr>
          <a:xfrm>
            <a:off x="5687568" y="5248655"/>
            <a:ext cx="384048" cy="384048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412" name="Picture 15411" descr="shiel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79739" y="5340827"/>
            <a:ext cx="199704" cy="199704"/>
          </a:xfrm>
          <a:prstGeom prst="rect">
            <a:avLst/>
          </a:prstGeom>
        </p:spPr>
      </p:pic>
      <p:sp>
        <p:nvSpPr>
          <p:cNvPr id="15413" name="TextBox 15412"/>
          <p:cNvSpPr txBox="1"/>
          <p:nvPr/>
        </p:nvSpPr>
        <p:spPr>
          <a:xfrm>
            <a:off x="6163055" y="5303520"/>
            <a:ext cx="2340863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B2A4A"/>
                </a:solidFill>
                <a:latin typeface="Calibri"/>
              </a:rPr>
              <a:t>Redaction-aware server</a:t>
            </a:r>
          </a:p>
        </p:txBody>
      </p:sp>
      <p:sp>
        <p:nvSpPr>
          <p:cNvPr id="15414" name="TextBox 15413"/>
          <p:cNvSpPr txBox="1"/>
          <p:nvPr/>
        </p:nvSpPr>
        <p:spPr>
          <a:xfrm>
            <a:off x="5687568" y="5705855"/>
            <a:ext cx="2779776" cy="530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E3B"/>
                </a:solidFill>
                <a:latin typeface="Calibri"/>
              </a:rPr>
              <a:t>Guard blocks the planner from typing into fields it cannot see.</a:t>
            </a:r>
          </a:p>
        </p:txBody>
      </p:sp>
      <p:sp>
        <p:nvSpPr>
          <p:cNvPr id="15415" name="Rounded Rectangle 15414"/>
          <p:cNvSpPr/>
          <p:nvPr/>
        </p:nvSpPr>
        <p:spPr>
          <a:xfrm>
            <a:off x="8723376" y="5120640"/>
            <a:ext cx="2999232" cy="1133856"/>
          </a:xfrm>
          <a:prstGeom prst="roundRect">
            <a:avLst>
              <a:gd name="adj" fmla="val 10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16" name="Oval 15415"/>
          <p:cNvSpPr/>
          <p:nvPr/>
        </p:nvSpPr>
        <p:spPr>
          <a:xfrm>
            <a:off x="8833103" y="5248655"/>
            <a:ext cx="384048" cy="384048"/>
          </a:xfrm>
          <a:prstGeom prst="ellipse">
            <a:avLst/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417" name="Picture 15416" descr="vault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25275" y="5340827"/>
            <a:ext cx="199704" cy="199704"/>
          </a:xfrm>
          <a:prstGeom prst="rect">
            <a:avLst/>
          </a:prstGeom>
        </p:spPr>
      </p:pic>
      <p:sp>
        <p:nvSpPr>
          <p:cNvPr id="15418" name="TextBox 15417"/>
          <p:cNvSpPr txBox="1"/>
          <p:nvPr/>
        </p:nvSpPr>
        <p:spPr>
          <a:xfrm>
            <a:off x="9308592" y="5303520"/>
            <a:ext cx="2340863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B2A4A"/>
                </a:solidFill>
                <a:latin typeface="Calibri"/>
              </a:rPr>
              <a:t>Local answer vault</a:t>
            </a:r>
          </a:p>
        </p:txBody>
      </p:sp>
      <p:sp>
        <p:nvSpPr>
          <p:cNvPr id="15419" name="TextBox 15418"/>
          <p:cNvSpPr txBox="1"/>
          <p:nvPr/>
        </p:nvSpPr>
        <p:spPr>
          <a:xfrm>
            <a:off x="8833103" y="5705855"/>
            <a:ext cx="2779776" cy="530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E3B"/>
                </a:solidFill>
                <a:latin typeface="Calibri"/>
              </a:rPr>
              <a:t>Values the agent asks for are filled on-device, never sent to server.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37360" y="109728"/>
            <a:ext cx="7863840" cy="566928"/>
          </a:xfrm>
        </p:spPr>
        <p:txBody>
          <a:bodyPr wrap="square" anchor="ctr" tIns="0" bIns="0">
            <a:noAutofit/>
          </a:bodyPr>
          <a:lstStyle/>
          <a:p>
            <a:pPr eaLnBrk="1" hangingPunct="1" algn="ctr"/>
            <a:r>
              <a:rPr lang="en-US" sz="30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0" rIns="0"/>
          <a:lstStyle/>
          <a:p>
            <a:pPr algn="ctr"/>
            <a:r>
              <a:rPr lang="en-US" dirty="0" sz="1500" b="1"/>
              <a:t>HexaBits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1737360" y="694944"/>
            <a:ext cx="786384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1300" b="0" i="1">
                <a:solidFill>
                  <a:srgbClr val="5B6675"/>
                </a:solidFill>
                <a:latin typeface="Calibri"/>
              </a:rPr>
              <a:t>Heavy perception on the client, reasoning on the server, raw data never crosses.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411480" y="1115568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070C0"/>
                </a:solidFill>
                <a:latin typeface="Calibri"/>
              </a:rPr>
              <a:t>Technologies to be used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411480" y="1463040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E87722"/>
                </a:solidFill>
                <a:latin typeface="Calibri"/>
              </a:rPr>
              <a:t>On-device vision / NLP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411480" y="1737360"/>
            <a:ext cx="1260043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77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62E3B"/>
                </a:solidFill>
                <a:latin typeface="Calibri"/>
              </a:rPr>
              <a:t>Florence-2 (ViT)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1744675" y="1737360"/>
            <a:ext cx="61813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77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62E3B"/>
                </a:solidFill>
                <a:latin typeface="Calibri"/>
              </a:rPr>
              <a:t>YOLOv8n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2435961" y="1737360"/>
            <a:ext cx="76078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77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62E3B"/>
                </a:solidFill>
                <a:latin typeface="Calibri"/>
              </a:rPr>
              <a:t>BlazeFace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3269894" y="1737360"/>
            <a:ext cx="689457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77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62E3B"/>
                </a:solidFill>
                <a:latin typeface="Calibri"/>
              </a:rPr>
              <a:t>BERT-NER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411480" y="2066544"/>
            <a:ext cx="1046073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77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62E3B"/>
                </a:solidFill>
                <a:latin typeface="Calibri"/>
              </a:rPr>
              <a:t>Tesseract OCR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1530705" y="2066544"/>
            <a:ext cx="97475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77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62E3B"/>
                </a:solidFill>
                <a:latin typeface="Calibri"/>
              </a:rPr>
              <a:t>Whisper-tiny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411480" y="2487168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070C0"/>
                </a:solidFill>
                <a:latin typeface="Calibri"/>
              </a:rPr>
              <a:t>In-browser runtime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411480" y="2761488"/>
            <a:ext cx="546811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62E3B"/>
                </a:solidFill>
                <a:latin typeface="Calibri"/>
              </a:rPr>
              <a:t>WebGPU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1031443" y="2761488"/>
            <a:ext cx="1046073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62E3B"/>
                </a:solidFill>
                <a:latin typeface="Calibri"/>
              </a:rPr>
              <a:t>WASM fallback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2150668" y="2761488"/>
            <a:ext cx="1260043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62E3B"/>
                </a:solidFill>
                <a:latin typeface="Calibri"/>
              </a:rPr>
              <a:t>ONNX Runtime Web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411480" y="3090672"/>
            <a:ext cx="1188719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62E3B"/>
                </a:solidFill>
                <a:latin typeface="Calibri"/>
              </a:rPr>
              <a:t>Transformers.js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1673351" y="3090672"/>
            <a:ext cx="76078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62E3B"/>
                </a:solidFill>
                <a:latin typeface="Calibri"/>
              </a:rPr>
              <a:t>MediaPipe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411480" y="3511296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B2A4A"/>
                </a:solidFill>
                <a:latin typeface="Calibri"/>
              </a:rPr>
              <a:t>Extension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411480" y="3785615"/>
            <a:ext cx="83210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62E3B"/>
                </a:solidFill>
                <a:latin typeface="Calibri"/>
              </a:rPr>
              <a:t>TypeScript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1316736" y="3785615"/>
            <a:ext cx="903427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62E3B"/>
                </a:solidFill>
                <a:latin typeface="Calibri"/>
              </a:rPr>
              <a:t>Manifest V3</a:t>
            </a:r>
          </a:p>
        </p:txBody>
      </p:sp>
      <p:sp>
        <p:nvSpPr>
          <p:cNvPr id="17429" name="Rounded Rectangle 17428"/>
          <p:cNvSpPr/>
          <p:nvPr/>
        </p:nvSpPr>
        <p:spPr>
          <a:xfrm>
            <a:off x="2293315" y="3785615"/>
            <a:ext cx="1402689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62E3B"/>
                </a:solidFill>
                <a:latin typeface="Calibri"/>
              </a:rPr>
              <a:t>Offscreen document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411480" y="4114800"/>
            <a:ext cx="1046073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62E3B"/>
                </a:solidFill>
                <a:latin typeface="Calibri"/>
              </a:rPr>
              <a:t>Side panel UI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1530705" y="4114800"/>
            <a:ext cx="40416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62E3B"/>
                </a:solidFill>
                <a:latin typeface="Calibri"/>
              </a:rPr>
              <a:t>Vite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411480" y="453542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E8E4A"/>
                </a:solidFill>
                <a:latin typeface="Calibri"/>
              </a:rPr>
              <a:t>Server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411480" y="4809744"/>
            <a:ext cx="546811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E8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62E3B"/>
                </a:solidFill>
                <a:latin typeface="Calibri"/>
              </a:rPr>
              <a:t>Python</a:t>
            </a:r>
          </a:p>
        </p:txBody>
      </p:sp>
      <p:sp>
        <p:nvSpPr>
          <p:cNvPr id="17434" name="Rounded Rectangle 17433"/>
          <p:cNvSpPr/>
          <p:nvPr/>
        </p:nvSpPr>
        <p:spPr>
          <a:xfrm>
            <a:off x="1031443" y="4809744"/>
            <a:ext cx="61813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E8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62E3B"/>
                </a:solidFill>
                <a:latin typeface="Calibri"/>
              </a:rPr>
              <a:t>FastAPI</a:t>
            </a:r>
          </a:p>
        </p:txBody>
      </p:sp>
      <p:sp>
        <p:nvSpPr>
          <p:cNvPr id="17435" name="Rounded Rectangle 17434"/>
          <p:cNvSpPr/>
          <p:nvPr/>
        </p:nvSpPr>
        <p:spPr>
          <a:xfrm>
            <a:off x="1722729" y="4809744"/>
            <a:ext cx="1260043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E8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62E3B"/>
                </a:solidFill>
                <a:latin typeface="Calibri"/>
              </a:rPr>
              <a:t>Open-weights VLM</a:t>
            </a:r>
          </a:p>
        </p:txBody>
      </p:sp>
      <p:sp>
        <p:nvSpPr>
          <p:cNvPr id="17436" name="Rounded Rectangle 17435"/>
          <p:cNvSpPr/>
          <p:nvPr/>
        </p:nvSpPr>
        <p:spPr>
          <a:xfrm>
            <a:off x="411480" y="5138928"/>
            <a:ext cx="1616659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E8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62E3B"/>
                </a:solidFill>
                <a:latin typeface="Calibri"/>
              </a:rPr>
              <a:t>OpenAI-compatible API</a:t>
            </a:r>
          </a:p>
        </p:txBody>
      </p:sp>
      <p:sp>
        <p:nvSpPr>
          <p:cNvPr id="17437" name="Rounded Rectangle 17436"/>
          <p:cNvSpPr/>
          <p:nvPr/>
        </p:nvSpPr>
        <p:spPr>
          <a:xfrm>
            <a:off x="2101291" y="5138928"/>
            <a:ext cx="689457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E8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62E3B"/>
                </a:solidFill>
                <a:latin typeface="Calibri"/>
              </a:rPr>
              <a:t>Pydantic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4572000" y="1115568"/>
            <a:ext cx="72237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070C0"/>
                </a:solidFill>
                <a:latin typeface="Calibri"/>
              </a:rPr>
              <a:t>Methodology and process for implementation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4572000" y="1444752"/>
            <a:ext cx="7205472" cy="2926080"/>
          </a:xfrm>
          <a:prstGeom prst="roundRect">
            <a:avLst>
              <a:gd name="adj" fmla="val 4000"/>
            </a:avLst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0" name="TextBox 17439"/>
          <p:cNvSpPr txBox="1"/>
          <p:nvPr/>
        </p:nvSpPr>
        <p:spPr>
          <a:xfrm>
            <a:off x="4709160" y="1499616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E87722"/>
                </a:solidFill>
                <a:latin typeface="Calibri"/>
              </a:rPr>
              <a:t>USER'S BROWSER  (trusted, on-device)</a:t>
            </a:r>
          </a:p>
        </p:txBody>
      </p:sp>
      <p:sp>
        <p:nvSpPr>
          <p:cNvPr id="17441" name="Rounded Rectangle 17440"/>
          <p:cNvSpPr/>
          <p:nvPr/>
        </p:nvSpPr>
        <p:spPr>
          <a:xfrm>
            <a:off x="4754880" y="1810512"/>
            <a:ext cx="201168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2" name="TextBox 17441"/>
          <p:cNvSpPr txBox="1"/>
          <p:nvPr/>
        </p:nvSpPr>
        <p:spPr>
          <a:xfrm>
            <a:off x="4846320" y="1874519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B2A4A"/>
                </a:solidFill>
                <a:latin typeface="Calibri"/>
              </a:rPr>
              <a:t>1. Capture</a:t>
            </a:r>
          </a:p>
        </p:txBody>
      </p:sp>
      <p:sp>
        <p:nvSpPr>
          <p:cNvPr id="17443" name="TextBox 17442"/>
          <p:cNvSpPr txBox="1"/>
          <p:nvPr/>
        </p:nvSpPr>
        <p:spPr>
          <a:xfrm>
            <a:off x="4846320" y="2139696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262E3B"/>
                </a:solidFill>
                <a:latin typeface="Calibri"/>
              </a:rPr>
              <a:t>Screenshot + DOM skeleton (tags, types, labels; no values)</a:t>
            </a:r>
          </a:p>
        </p:txBody>
      </p:sp>
      <p:sp>
        <p:nvSpPr>
          <p:cNvPr id="17444" name="Rounded Rectangle 17443"/>
          <p:cNvSpPr/>
          <p:nvPr/>
        </p:nvSpPr>
        <p:spPr>
          <a:xfrm>
            <a:off x="7168896" y="1810512"/>
            <a:ext cx="201168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5" name="TextBox 17444"/>
          <p:cNvSpPr txBox="1"/>
          <p:nvPr/>
        </p:nvSpPr>
        <p:spPr>
          <a:xfrm>
            <a:off x="7260336" y="1874519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070C0"/>
                </a:solidFill>
                <a:latin typeface="Calibri"/>
              </a:rPr>
              <a:t>2. Perceive</a:t>
            </a:r>
          </a:p>
        </p:txBody>
      </p:sp>
      <p:sp>
        <p:nvSpPr>
          <p:cNvPr id="17446" name="TextBox 17445"/>
          <p:cNvSpPr txBox="1"/>
          <p:nvPr/>
        </p:nvSpPr>
        <p:spPr>
          <a:xfrm>
            <a:off x="7260336" y="2139696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262E3B"/>
                </a:solidFill>
                <a:latin typeface="Calibri"/>
              </a:rPr>
              <a:t>Offscreen doc: Florence-2, YOLO, OCR, NER, BlazeFace on WebGPU</a:t>
            </a:r>
          </a:p>
        </p:txBody>
      </p:sp>
      <p:sp>
        <p:nvSpPr>
          <p:cNvPr id="17447" name="Rounded Rectangle 17446"/>
          <p:cNvSpPr/>
          <p:nvPr/>
        </p:nvSpPr>
        <p:spPr>
          <a:xfrm>
            <a:off x="9582912" y="1810512"/>
            <a:ext cx="201168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77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8" name="TextBox 17447"/>
          <p:cNvSpPr txBox="1"/>
          <p:nvPr/>
        </p:nvSpPr>
        <p:spPr>
          <a:xfrm>
            <a:off x="9674352" y="1874519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E87722"/>
                </a:solidFill>
                <a:latin typeface="Calibri"/>
              </a:rPr>
              <a:t>3. Fuse + Redact</a:t>
            </a:r>
          </a:p>
        </p:txBody>
      </p:sp>
      <p:sp>
        <p:nvSpPr>
          <p:cNvPr id="17449" name="TextBox 17448"/>
          <p:cNvSpPr txBox="1"/>
          <p:nvPr/>
        </p:nvSpPr>
        <p:spPr>
          <a:xfrm>
            <a:off x="9674352" y="2139696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262E3B"/>
                </a:solidFill>
                <a:latin typeface="Calibri"/>
              </a:rPr>
              <a:t>DOM + vision boxes, noisy-OR scoring, black-box masks</a:t>
            </a:r>
          </a:p>
        </p:txBody>
      </p:sp>
      <p:cxnSp>
        <p:nvCxnSpPr>
          <p:cNvPr id="17450" name="Connector 17449"/>
          <p:cNvCxnSpPr/>
          <p:nvPr/>
        </p:nvCxnSpPr>
        <p:spPr>
          <a:xfrm>
            <a:off x="6766560" y="2267712"/>
            <a:ext cx="402336" cy="0"/>
          </a:xfrm>
          <a:prstGeom prst="line">
            <a:avLst/>
          </a:prstGeom>
          <a:ln w="19050">
            <a:solidFill>
              <a:srgbClr val="5B667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51" name="Connector 17450"/>
          <p:cNvCxnSpPr/>
          <p:nvPr/>
        </p:nvCxnSpPr>
        <p:spPr>
          <a:xfrm>
            <a:off x="9180576" y="2267712"/>
            <a:ext cx="402336" cy="0"/>
          </a:xfrm>
          <a:prstGeom prst="line">
            <a:avLst/>
          </a:prstGeom>
          <a:ln w="19050">
            <a:solidFill>
              <a:srgbClr val="5B667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2" name="Rounded Rectangle 17451"/>
          <p:cNvSpPr/>
          <p:nvPr/>
        </p:nvSpPr>
        <p:spPr>
          <a:xfrm>
            <a:off x="4754880" y="3108960"/>
            <a:ext cx="201168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77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3" name="TextBox 17452"/>
          <p:cNvSpPr txBox="1"/>
          <p:nvPr/>
        </p:nvSpPr>
        <p:spPr>
          <a:xfrm>
            <a:off x="4846320" y="3172968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E87722"/>
                </a:solidFill>
                <a:latin typeface="Calibri"/>
              </a:rPr>
              <a:t>6. Risk gate + vault</a:t>
            </a:r>
          </a:p>
        </p:txBody>
      </p:sp>
      <p:sp>
        <p:nvSpPr>
          <p:cNvPr id="17454" name="TextBox 17453"/>
          <p:cNvSpPr txBox="1"/>
          <p:nvPr/>
        </p:nvSpPr>
        <p:spPr>
          <a:xfrm>
            <a:off x="4846320" y="3438144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262E3B"/>
                </a:solidFill>
                <a:latin typeface="Calibri"/>
              </a:rPr>
              <a:t>Submit / pay / delete wait for user OK; asked values filled locally</a:t>
            </a:r>
          </a:p>
        </p:txBody>
      </p:sp>
      <p:sp>
        <p:nvSpPr>
          <p:cNvPr id="17455" name="Rounded Rectangle 17454"/>
          <p:cNvSpPr/>
          <p:nvPr/>
        </p:nvSpPr>
        <p:spPr>
          <a:xfrm>
            <a:off x="7168896" y="3108960"/>
            <a:ext cx="201168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1E8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6" name="TextBox 17455"/>
          <p:cNvSpPr txBox="1"/>
          <p:nvPr/>
        </p:nvSpPr>
        <p:spPr>
          <a:xfrm>
            <a:off x="7260336" y="3172968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E8E4A"/>
                </a:solidFill>
                <a:latin typeface="Calibri"/>
              </a:rPr>
              <a:t>7. Execute + loop</a:t>
            </a:r>
          </a:p>
        </p:txBody>
      </p:sp>
      <p:sp>
        <p:nvSpPr>
          <p:cNvPr id="17457" name="TextBox 17456"/>
          <p:cNvSpPr txBox="1"/>
          <p:nvPr/>
        </p:nvSpPr>
        <p:spPr>
          <a:xfrm>
            <a:off x="7260336" y="3438144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262E3B"/>
                </a:solidFill>
                <a:latin typeface="Calibri"/>
              </a:rPr>
              <a:t>Click, type, scroll, navigate; observe again until done (max 15)</a:t>
            </a:r>
          </a:p>
        </p:txBody>
      </p:sp>
      <p:cxnSp>
        <p:nvCxnSpPr>
          <p:cNvPr id="17458" name="Connector 17457"/>
          <p:cNvCxnSpPr/>
          <p:nvPr/>
        </p:nvCxnSpPr>
        <p:spPr>
          <a:xfrm>
            <a:off x="6766560" y="3566160"/>
            <a:ext cx="402336" cy="0"/>
          </a:xfrm>
          <a:prstGeom prst="line">
            <a:avLst/>
          </a:prstGeom>
          <a:ln w="19050">
            <a:solidFill>
              <a:srgbClr val="5B667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9" name="Rectangle 17458"/>
          <p:cNvSpPr/>
          <p:nvPr/>
        </p:nvSpPr>
        <p:spPr>
          <a:xfrm>
            <a:off x="4572000" y="4535424"/>
            <a:ext cx="7205472" cy="18288"/>
          </a:xfrm>
          <a:prstGeom prst="rect">
            <a:avLst/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0" name="TextBox 17459"/>
          <p:cNvSpPr txBox="1"/>
          <p:nvPr/>
        </p:nvSpPr>
        <p:spPr>
          <a:xfrm>
            <a:off x="4663440" y="4581144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E87722"/>
                </a:solidFill>
                <a:latin typeface="Calibri"/>
              </a:rPr>
              <a:t>privacy boundary</a:t>
            </a:r>
          </a:p>
        </p:txBody>
      </p:sp>
      <p:sp>
        <p:nvSpPr>
          <p:cNvPr id="17461" name="Rounded Rectangle 17460"/>
          <p:cNvSpPr/>
          <p:nvPr/>
        </p:nvSpPr>
        <p:spPr>
          <a:xfrm>
            <a:off x="4572000" y="4754880"/>
            <a:ext cx="7205472" cy="1481328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2" name="TextBox 17461"/>
          <p:cNvSpPr txBox="1"/>
          <p:nvPr/>
        </p:nvSpPr>
        <p:spPr>
          <a:xfrm>
            <a:off x="7168896" y="4791456"/>
            <a:ext cx="24688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B2A4A"/>
                </a:solidFill>
                <a:latin typeface="Calibri"/>
              </a:rPr>
              <a:t>SERVER  (sees only sanitized context)</a:t>
            </a:r>
          </a:p>
        </p:txBody>
      </p:sp>
      <p:sp>
        <p:nvSpPr>
          <p:cNvPr id="17463" name="Rounded Rectangle 17462"/>
          <p:cNvSpPr/>
          <p:nvPr/>
        </p:nvSpPr>
        <p:spPr>
          <a:xfrm>
            <a:off x="9582912" y="5065776"/>
            <a:ext cx="2011680" cy="9875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4" name="TextBox 17463"/>
          <p:cNvSpPr txBox="1"/>
          <p:nvPr/>
        </p:nvSpPr>
        <p:spPr>
          <a:xfrm>
            <a:off x="9674352" y="5129784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B2A4A"/>
                </a:solidFill>
                <a:latin typeface="Calibri"/>
              </a:rPr>
              <a:t>4. /next-action</a:t>
            </a:r>
          </a:p>
        </p:txBody>
      </p:sp>
      <p:sp>
        <p:nvSpPr>
          <p:cNvPr id="17465" name="TextBox 17464"/>
          <p:cNvSpPr txBox="1"/>
          <p:nvPr/>
        </p:nvSpPr>
        <p:spPr>
          <a:xfrm>
            <a:off x="9674352" y="5394960"/>
            <a:ext cx="1828800" cy="621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262E3B"/>
                </a:solidFill>
                <a:latin typeface="Calibri"/>
              </a:rPr>
              <a:t>FastAPI receives masked PNG + manifest + DOM skeleton</a:t>
            </a:r>
          </a:p>
        </p:txBody>
      </p:sp>
      <p:sp>
        <p:nvSpPr>
          <p:cNvPr id="17466" name="Rounded Rectangle 17465"/>
          <p:cNvSpPr/>
          <p:nvPr/>
        </p:nvSpPr>
        <p:spPr>
          <a:xfrm>
            <a:off x="7168896" y="5065776"/>
            <a:ext cx="2011680" cy="9875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7" name="TextBox 17466"/>
          <p:cNvSpPr txBox="1"/>
          <p:nvPr/>
        </p:nvSpPr>
        <p:spPr>
          <a:xfrm>
            <a:off x="7260336" y="5129784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B2A4A"/>
                </a:solidFill>
                <a:latin typeface="Calibri"/>
              </a:rPr>
              <a:t>5a. VLM planner</a:t>
            </a:r>
          </a:p>
        </p:txBody>
      </p:sp>
      <p:sp>
        <p:nvSpPr>
          <p:cNvPr id="17468" name="TextBox 17467"/>
          <p:cNvSpPr txBox="1"/>
          <p:nvPr/>
        </p:nvSpPr>
        <p:spPr>
          <a:xfrm>
            <a:off x="7260336" y="5394960"/>
            <a:ext cx="1828800" cy="621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262E3B"/>
                </a:solidFill>
                <a:latin typeface="Calibri"/>
              </a:rPr>
              <a:t>Open-weights VLM, prompt knows the redaction scheme</a:t>
            </a:r>
          </a:p>
        </p:txBody>
      </p:sp>
      <p:sp>
        <p:nvSpPr>
          <p:cNvPr id="17469" name="Rounded Rectangle 17468"/>
          <p:cNvSpPr/>
          <p:nvPr/>
        </p:nvSpPr>
        <p:spPr>
          <a:xfrm>
            <a:off x="4754880" y="5065776"/>
            <a:ext cx="2011680" cy="9875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0" name="TextBox 17469"/>
          <p:cNvSpPr txBox="1"/>
          <p:nvPr/>
        </p:nvSpPr>
        <p:spPr>
          <a:xfrm>
            <a:off x="4846320" y="5129784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B2A4A"/>
                </a:solidFill>
                <a:latin typeface="Calibri"/>
              </a:rPr>
              <a:t>5b. Safety guard</a:t>
            </a:r>
          </a:p>
        </p:txBody>
      </p:sp>
      <p:sp>
        <p:nvSpPr>
          <p:cNvPr id="17471" name="TextBox 17470"/>
          <p:cNvSpPr txBox="1"/>
          <p:nvPr/>
        </p:nvSpPr>
        <p:spPr>
          <a:xfrm>
            <a:off x="4846320" y="5394960"/>
            <a:ext cx="1828800" cy="621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262E3B"/>
                </a:solidFill>
                <a:latin typeface="Calibri"/>
              </a:rPr>
              <a:t>Rejects typing into masked fields and made-up selectors</a:t>
            </a:r>
          </a:p>
        </p:txBody>
      </p:sp>
      <p:cxnSp>
        <p:nvCxnSpPr>
          <p:cNvPr id="17472" name="Connector 17471"/>
          <p:cNvCxnSpPr/>
          <p:nvPr/>
        </p:nvCxnSpPr>
        <p:spPr>
          <a:xfrm flipH="1">
            <a:off x="9180576" y="5559552"/>
            <a:ext cx="402336" cy="0"/>
          </a:xfrm>
          <a:prstGeom prst="line">
            <a:avLst/>
          </a:prstGeom>
          <a:ln w="19050">
            <a:solidFill>
              <a:srgbClr val="5B667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73" name="Connector 17472"/>
          <p:cNvCxnSpPr/>
          <p:nvPr/>
        </p:nvCxnSpPr>
        <p:spPr>
          <a:xfrm flipH="1">
            <a:off x="6766560" y="5559552"/>
            <a:ext cx="402336" cy="0"/>
          </a:xfrm>
          <a:prstGeom prst="line">
            <a:avLst/>
          </a:prstGeom>
          <a:ln w="19050">
            <a:solidFill>
              <a:srgbClr val="5B667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74" name="Connector 17473"/>
          <p:cNvCxnSpPr/>
          <p:nvPr/>
        </p:nvCxnSpPr>
        <p:spPr>
          <a:xfrm>
            <a:off x="10588752" y="2724912"/>
            <a:ext cx="0" cy="2340864"/>
          </a:xfrm>
          <a:prstGeom prst="line">
            <a:avLst/>
          </a:prstGeom>
          <a:ln w="25400">
            <a:solidFill>
              <a:srgbClr val="E877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75" name="TextBox 17474"/>
          <p:cNvSpPr txBox="1"/>
          <p:nvPr/>
        </p:nvSpPr>
        <p:spPr>
          <a:xfrm>
            <a:off x="10680192" y="3154679"/>
            <a:ext cx="960120" cy="960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E87722"/>
                </a:solidFill>
                <a:latin typeface="Calibri"/>
              </a:rPr>
              <a:t>sanitized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E87722"/>
                </a:solidFill>
                <a:latin typeface="Calibri"/>
              </a:rPr>
              <a:t>masked image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E87722"/>
                </a:solidFill>
                <a:latin typeface="Calibri"/>
              </a:rPr>
              <a:t>manifest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E87722"/>
                </a:solidFill>
                <a:latin typeface="Calibri"/>
              </a:rPr>
              <a:t>DOM skeleton</a:t>
            </a:r>
          </a:p>
        </p:txBody>
      </p:sp>
      <p:cxnSp>
        <p:nvCxnSpPr>
          <p:cNvPr id="17476" name="Connector 17475"/>
          <p:cNvCxnSpPr/>
          <p:nvPr/>
        </p:nvCxnSpPr>
        <p:spPr>
          <a:xfrm flipV="1">
            <a:off x="5760720" y="4023360"/>
            <a:ext cx="0" cy="1042416"/>
          </a:xfrm>
          <a:prstGeom prst="line">
            <a:avLst/>
          </a:prstGeom>
          <a:ln w="25400">
            <a:solidFill>
              <a:srgbClr val="1E8E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77" name="TextBox 17476"/>
          <p:cNvSpPr txBox="1"/>
          <p:nvPr/>
        </p:nvSpPr>
        <p:spPr>
          <a:xfrm>
            <a:off x="5852160" y="4206240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E8E4A"/>
                </a:solidFill>
                <a:latin typeface="Calibri"/>
              </a:rPr>
              <a:t>action JSON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37360" y="109728"/>
            <a:ext cx="7863840" cy="566928"/>
          </a:xfrm>
        </p:spPr>
        <p:txBody>
          <a:bodyPr wrap="square" anchor="ctr" tIns="0" bIns="0">
            <a:noAutofit/>
          </a:bodyPr>
          <a:lstStyle/>
          <a:p>
            <a:pPr eaLnBrk="1" hangingPunct="1" algn="ctr"/>
            <a:r>
              <a:rPr lang="en-US" sz="30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0" rIns="0"/>
          <a:lstStyle/>
          <a:p>
            <a:pPr algn="ctr"/>
            <a:r>
              <a:rPr lang="en-US" dirty="0" sz="1500" b="1"/>
              <a:t>HexaBits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1737360" y="694944"/>
            <a:ext cx="786384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1300" b="0" i="1">
                <a:solidFill>
                  <a:srgbClr val="5B6675"/>
                </a:solidFill>
                <a:latin typeface="Calibri"/>
              </a:rPr>
              <a:t>Designed around the five evaluation metrics, working prototype already running.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411480" y="1115568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070C0"/>
                </a:solidFill>
                <a:latin typeface="Calibri"/>
              </a:rPr>
              <a:t>Analysis of the feasibility of the idea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11480" y="1463040"/>
            <a:ext cx="6035040" cy="822960"/>
          </a:xfrm>
          <a:prstGeom prst="roundRect">
            <a:avLst>
              <a:gd name="adj" fmla="val 12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4" name="Rounded Rectangle 17413"/>
          <p:cNvSpPr/>
          <p:nvPr/>
        </p:nvSpPr>
        <p:spPr>
          <a:xfrm>
            <a:off x="530352" y="1618488"/>
            <a:ext cx="658368" cy="512064"/>
          </a:xfrm>
          <a:prstGeom prst="roundRect">
            <a:avLst>
              <a:gd name="adj" fmla="val 30000"/>
            </a:avLst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25%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1335024" y="1572768"/>
            <a:ext cx="49834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B2A4A"/>
                </a:solidFill>
                <a:latin typeface="Calibri"/>
              </a:rPr>
              <a:t>Visual context accuracy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1335024" y="1837944"/>
            <a:ext cx="4983480" cy="4206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E3B"/>
                </a:solidFill>
                <a:latin typeface="Calibri"/>
              </a:rPr>
              <a:t>Florence-2 captions + YOLO elements fused with the real DOM list, so actions hit real selectors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411480" y="2395728"/>
            <a:ext cx="6035040" cy="822960"/>
          </a:xfrm>
          <a:prstGeom prst="roundRect">
            <a:avLst>
              <a:gd name="adj" fmla="val 12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8" name="Rounded Rectangle 17417"/>
          <p:cNvSpPr/>
          <p:nvPr/>
        </p:nvSpPr>
        <p:spPr>
          <a:xfrm>
            <a:off x="530352" y="2551176"/>
            <a:ext cx="658368" cy="512064"/>
          </a:xfrm>
          <a:prstGeom prst="roundRect">
            <a:avLst>
              <a:gd name="adj" fmla="val 30000"/>
            </a:avLst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20%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1335024" y="2505456"/>
            <a:ext cx="49834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B2A4A"/>
                </a:solidFill>
                <a:latin typeface="Calibri"/>
              </a:rPr>
              <a:t>PII recall / precision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1335024" y="2770632"/>
            <a:ext cx="4983480" cy="4206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E3B"/>
                </a:solidFill>
                <a:latin typeface="Calibri"/>
              </a:rPr>
              <a:t>DOM + regex (Luhn, Verhoeff) + NER + BlazeFace fused; eval: 100% recall, 91.3% precision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411480" y="3328416"/>
            <a:ext cx="6035040" cy="822960"/>
          </a:xfrm>
          <a:prstGeom prst="roundRect">
            <a:avLst>
              <a:gd name="adj" fmla="val 12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2" name="Rounded Rectangle 17421"/>
          <p:cNvSpPr/>
          <p:nvPr/>
        </p:nvSpPr>
        <p:spPr>
          <a:xfrm>
            <a:off x="530352" y="3483864"/>
            <a:ext cx="658368" cy="512064"/>
          </a:xfrm>
          <a:prstGeom prst="roundRect">
            <a:avLst>
              <a:gd name="adj" fmla="val 30000"/>
            </a:avLst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20%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1335024" y="3438144"/>
            <a:ext cx="49834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B2A4A"/>
                </a:solidFill>
                <a:latin typeface="Calibri"/>
              </a:rPr>
              <a:t>Redaction precision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1335024" y="3703320"/>
            <a:ext cx="4983480" cy="4206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E3B"/>
                </a:solidFill>
                <a:latin typeface="Calibri"/>
              </a:rPr>
              <a:t>Pixel-exact DOM boxes; eval: 92.8% of masked pixels are sensitive, mean IoU 0.99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411480" y="4261104"/>
            <a:ext cx="6035040" cy="822960"/>
          </a:xfrm>
          <a:prstGeom prst="roundRect">
            <a:avLst>
              <a:gd name="adj" fmla="val 12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6" name="Rounded Rectangle 17425"/>
          <p:cNvSpPr/>
          <p:nvPr/>
        </p:nvSpPr>
        <p:spPr>
          <a:xfrm>
            <a:off x="530352" y="4416552"/>
            <a:ext cx="658368" cy="512064"/>
          </a:xfrm>
          <a:prstGeom prst="roundRect">
            <a:avLst>
              <a:gd name="adj" fmla="val 30000"/>
            </a:avLst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20%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1335024" y="4370832"/>
            <a:ext cx="49834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B2A4A"/>
                </a:solidFill>
                <a:latin typeface="Calibri"/>
              </a:rPr>
              <a:t>Client resources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1335024" y="4636008"/>
            <a:ext cx="4983480" cy="4206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E3B"/>
                </a:solidFill>
                <a:latin typeface="Calibri"/>
              </a:rPr>
              <a:t>int8 / fp16 models in one offscreen doc; heap and WebGPU shown live per step</a:t>
            </a:r>
          </a:p>
        </p:txBody>
      </p:sp>
      <p:sp>
        <p:nvSpPr>
          <p:cNvPr id="17429" name="Rounded Rectangle 17428"/>
          <p:cNvSpPr/>
          <p:nvPr/>
        </p:nvSpPr>
        <p:spPr>
          <a:xfrm>
            <a:off x="411480" y="5193792"/>
            <a:ext cx="6035040" cy="822960"/>
          </a:xfrm>
          <a:prstGeom prst="roundRect">
            <a:avLst>
              <a:gd name="adj" fmla="val 12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0" name="Rounded Rectangle 17429"/>
          <p:cNvSpPr/>
          <p:nvPr/>
        </p:nvSpPr>
        <p:spPr>
          <a:xfrm>
            <a:off x="530352" y="5349240"/>
            <a:ext cx="658368" cy="512064"/>
          </a:xfrm>
          <a:prstGeom prst="roundRect">
            <a:avLst>
              <a:gd name="adj" fmla="val 30000"/>
            </a:avLst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15%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1335024" y="5303520"/>
            <a:ext cx="49834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B2A4A"/>
                </a:solidFill>
                <a:latin typeface="Calibri"/>
              </a:rPr>
              <a:t>End-to-end latency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1335024" y="5568696"/>
            <a:ext cx="4983480" cy="4206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E3B"/>
                </a:solidFill>
                <a:latin typeface="Calibri"/>
              </a:rPr>
              <a:t>Per-step breakdown shown live: capture, on-device, planner, act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6720840" y="1115568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87722"/>
                </a:solidFill>
                <a:latin typeface="Calibri"/>
              </a:rPr>
              <a:t>Potential challenges and risks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9326880" y="111556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E8E4A"/>
                </a:solidFill>
                <a:latin typeface="Calibri"/>
              </a:rPr>
              <a:t>Strategies for overcoming</a:t>
            </a:r>
          </a:p>
        </p:txBody>
      </p:sp>
      <p:sp>
        <p:nvSpPr>
          <p:cNvPr id="17435" name="Rounded Rectangle 17434"/>
          <p:cNvSpPr/>
          <p:nvPr/>
        </p:nvSpPr>
        <p:spPr>
          <a:xfrm>
            <a:off x="6720840" y="1463040"/>
            <a:ext cx="2395728" cy="822960"/>
          </a:xfrm>
          <a:prstGeom prst="roundRect">
            <a:avLst>
              <a:gd name="adj" fmla="val 12000"/>
            </a:avLst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6" name="Oval 17435"/>
          <p:cNvSpPr/>
          <p:nvPr/>
        </p:nvSpPr>
        <p:spPr>
          <a:xfrm>
            <a:off x="6812280" y="1691640"/>
            <a:ext cx="365760" cy="365760"/>
          </a:xfrm>
          <a:prstGeom prst="ellipse">
            <a:avLst/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37" name="Picture 17436" descr="war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0062" y="1779422"/>
            <a:ext cx="190195" cy="190195"/>
          </a:xfrm>
          <a:prstGeom prst="rect">
            <a:avLst/>
          </a:prstGeom>
        </p:spPr>
      </p:pic>
      <p:sp>
        <p:nvSpPr>
          <p:cNvPr id="17438" name="TextBox 17437"/>
          <p:cNvSpPr txBox="1"/>
          <p:nvPr/>
        </p:nvSpPr>
        <p:spPr>
          <a:xfrm>
            <a:off x="7269480" y="1536192"/>
            <a:ext cx="1783080" cy="6766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262E3B"/>
                </a:solidFill>
                <a:latin typeface="Calibri"/>
              </a:rPr>
              <a:t>Missed PII (false negative)</a:t>
            </a:r>
          </a:p>
        </p:txBody>
      </p:sp>
      <p:cxnSp>
        <p:nvCxnSpPr>
          <p:cNvPr id="17439" name="Connector 17438"/>
          <p:cNvCxnSpPr/>
          <p:nvPr/>
        </p:nvCxnSpPr>
        <p:spPr>
          <a:xfrm>
            <a:off x="9134856" y="1874520"/>
            <a:ext cx="182880" cy="0"/>
          </a:xfrm>
          <a:prstGeom prst="line">
            <a:avLst/>
          </a:prstGeom>
          <a:ln w="19050">
            <a:solidFill>
              <a:srgbClr val="5B667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0" name="Rounded Rectangle 17439"/>
          <p:cNvSpPr/>
          <p:nvPr/>
        </p:nvSpPr>
        <p:spPr>
          <a:xfrm>
            <a:off x="9326880" y="1463040"/>
            <a:ext cx="2450592" cy="822960"/>
          </a:xfrm>
          <a:prstGeom prst="roundRect">
            <a:avLst>
              <a:gd name="adj" fmla="val 12000"/>
            </a:avLst>
          </a:prstGeom>
          <a:solidFill>
            <a:srgbClr val="E7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1" name="Oval 17440"/>
          <p:cNvSpPr/>
          <p:nvPr/>
        </p:nvSpPr>
        <p:spPr>
          <a:xfrm>
            <a:off x="9418320" y="1691640"/>
            <a:ext cx="365760" cy="365760"/>
          </a:xfrm>
          <a:prstGeom prst="ellipse">
            <a:avLst/>
          </a:prstGeom>
          <a:solidFill>
            <a:srgbClr val="1E8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42" name="Picture 17441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6102" y="1779422"/>
            <a:ext cx="190195" cy="190195"/>
          </a:xfrm>
          <a:prstGeom prst="rect">
            <a:avLst/>
          </a:prstGeom>
        </p:spPr>
      </p:pic>
      <p:sp>
        <p:nvSpPr>
          <p:cNvPr id="17443" name="TextBox 17442"/>
          <p:cNvSpPr txBox="1"/>
          <p:nvPr/>
        </p:nvSpPr>
        <p:spPr>
          <a:xfrm>
            <a:off x="9875520" y="1536192"/>
            <a:ext cx="1828800" cy="6766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262E3B"/>
                </a:solidFill>
                <a:latin typeface="Calibri"/>
              </a:rPr>
              <a:t>Fail-safe: a low-confidence lone hit is still masked</a:t>
            </a:r>
          </a:p>
        </p:txBody>
      </p:sp>
      <p:sp>
        <p:nvSpPr>
          <p:cNvPr id="17444" name="Rounded Rectangle 17443"/>
          <p:cNvSpPr/>
          <p:nvPr/>
        </p:nvSpPr>
        <p:spPr>
          <a:xfrm>
            <a:off x="6720840" y="2395728"/>
            <a:ext cx="2395728" cy="822960"/>
          </a:xfrm>
          <a:prstGeom prst="roundRect">
            <a:avLst>
              <a:gd name="adj" fmla="val 12000"/>
            </a:avLst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5" name="Oval 17444"/>
          <p:cNvSpPr/>
          <p:nvPr/>
        </p:nvSpPr>
        <p:spPr>
          <a:xfrm>
            <a:off x="6812280" y="2624328"/>
            <a:ext cx="365760" cy="365760"/>
          </a:xfrm>
          <a:prstGeom prst="ellipse">
            <a:avLst/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46" name="Picture 17445" descr="war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0062" y="2712110"/>
            <a:ext cx="190195" cy="190195"/>
          </a:xfrm>
          <a:prstGeom prst="rect">
            <a:avLst/>
          </a:prstGeom>
        </p:spPr>
      </p:pic>
      <p:sp>
        <p:nvSpPr>
          <p:cNvPr id="17447" name="TextBox 17446"/>
          <p:cNvSpPr txBox="1"/>
          <p:nvPr/>
        </p:nvSpPr>
        <p:spPr>
          <a:xfrm>
            <a:off x="7269480" y="2468880"/>
            <a:ext cx="1783080" cy="6766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262E3B"/>
                </a:solidFill>
                <a:latin typeface="Calibri"/>
              </a:rPr>
              <a:t>Over-redaction hides context</a:t>
            </a:r>
          </a:p>
        </p:txBody>
      </p:sp>
      <p:cxnSp>
        <p:nvCxnSpPr>
          <p:cNvPr id="17448" name="Connector 17447"/>
          <p:cNvCxnSpPr/>
          <p:nvPr/>
        </p:nvCxnSpPr>
        <p:spPr>
          <a:xfrm>
            <a:off x="9134856" y="2807208"/>
            <a:ext cx="182880" cy="0"/>
          </a:xfrm>
          <a:prstGeom prst="line">
            <a:avLst/>
          </a:prstGeom>
          <a:ln w="19050">
            <a:solidFill>
              <a:srgbClr val="5B667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9" name="Rounded Rectangle 17448"/>
          <p:cNvSpPr/>
          <p:nvPr/>
        </p:nvSpPr>
        <p:spPr>
          <a:xfrm>
            <a:off x="9326880" y="2395728"/>
            <a:ext cx="2450592" cy="822960"/>
          </a:xfrm>
          <a:prstGeom prst="roundRect">
            <a:avLst>
              <a:gd name="adj" fmla="val 12000"/>
            </a:avLst>
          </a:prstGeom>
          <a:solidFill>
            <a:srgbClr val="E7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0" name="Oval 17449"/>
          <p:cNvSpPr/>
          <p:nvPr/>
        </p:nvSpPr>
        <p:spPr>
          <a:xfrm>
            <a:off x="9418320" y="2624328"/>
            <a:ext cx="365760" cy="365760"/>
          </a:xfrm>
          <a:prstGeom prst="ellipse">
            <a:avLst/>
          </a:prstGeom>
          <a:solidFill>
            <a:srgbClr val="1E8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51" name="Picture 17450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6102" y="2712110"/>
            <a:ext cx="190195" cy="190195"/>
          </a:xfrm>
          <a:prstGeom prst="rect">
            <a:avLst/>
          </a:prstGeom>
        </p:spPr>
      </p:pic>
      <p:sp>
        <p:nvSpPr>
          <p:cNvPr id="17452" name="TextBox 17451"/>
          <p:cNvSpPr txBox="1"/>
          <p:nvPr/>
        </p:nvSpPr>
        <p:spPr>
          <a:xfrm>
            <a:off x="9875520" y="2468880"/>
            <a:ext cx="1828800" cy="6766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262E3B"/>
                </a:solidFill>
                <a:latin typeface="Calibri"/>
              </a:rPr>
              <a:t>Manifest keeps field type; DOM-safe zones</a:t>
            </a:r>
          </a:p>
        </p:txBody>
      </p:sp>
      <p:sp>
        <p:nvSpPr>
          <p:cNvPr id="17453" name="Rounded Rectangle 17452"/>
          <p:cNvSpPr/>
          <p:nvPr/>
        </p:nvSpPr>
        <p:spPr>
          <a:xfrm>
            <a:off x="6720840" y="3328416"/>
            <a:ext cx="2395728" cy="822960"/>
          </a:xfrm>
          <a:prstGeom prst="roundRect">
            <a:avLst>
              <a:gd name="adj" fmla="val 12000"/>
            </a:avLst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4" name="Oval 17453"/>
          <p:cNvSpPr/>
          <p:nvPr/>
        </p:nvSpPr>
        <p:spPr>
          <a:xfrm>
            <a:off x="6812280" y="3557016"/>
            <a:ext cx="365760" cy="365760"/>
          </a:xfrm>
          <a:prstGeom prst="ellipse">
            <a:avLst/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55" name="Picture 17454" descr="war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0062" y="3644798"/>
            <a:ext cx="190195" cy="190195"/>
          </a:xfrm>
          <a:prstGeom prst="rect">
            <a:avLst/>
          </a:prstGeom>
        </p:spPr>
      </p:pic>
      <p:sp>
        <p:nvSpPr>
          <p:cNvPr id="17456" name="TextBox 17455"/>
          <p:cNvSpPr txBox="1"/>
          <p:nvPr/>
        </p:nvSpPr>
        <p:spPr>
          <a:xfrm>
            <a:off x="7269480" y="3401568"/>
            <a:ext cx="1783080" cy="6766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262E3B"/>
                </a:solidFill>
                <a:latin typeface="Calibri"/>
              </a:rPr>
              <a:t>Heavy models, low-end laptops</a:t>
            </a:r>
          </a:p>
        </p:txBody>
      </p:sp>
      <p:cxnSp>
        <p:nvCxnSpPr>
          <p:cNvPr id="17457" name="Connector 17456"/>
          <p:cNvCxnSpPr/>
          <p:nvPr/>
        </p:nvCxnSpPr>
        <p:spPr>
          <a:xfrm>
            <a:off x="9134856" y="3739896"/>
            <a:ext cx="182880" cy="0"/>
          </a:xfrm>
          <a:prstGeom prst="line">
            <a:avLst/>
          </a:prstGeom>
          <a:ln w="19050">
            <a:solidFill>
              <a:srgbClr val="5B667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8" name="Rounded Rectangle 17457"/>
          <p:cNvSpPr/>
          <p:nvPr/>
        </p:nvSpPr>
        <p:spPr>
          <a:xfrm>
            <a:off x="9326880" y="3328416"/>
            <a:ext cx="2450592" cy="822960"/>
          </a:xfrm>
          <a:prstGeom prst="roundRect">
            <a:avLst>
              <a:gd name="adj" fmla="val 12000"/>
            </a:avLst>
          </a:prstGeom>
          <a:solidFill>
            <a:srgbClr val="E7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9" name="Oval 17458"/>
          <p:cNvSpPr/>
          <p:nvPr/>
        </p:nvSpPr>
        <p:spPr>
          <a:xfrm>
            <a:off x="9418320" y="3557016"/>
            <a:ext cx="365760" cy="365760"/>
          </a:xfrm>
          <a:prstGeom prst="ellipse">
            <a:avLst/>
          </a:prstGeom>
          <a:solidFill>
            <a:srgbClr val="1E8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60" name="Picture 17459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6102" y="3644798"/>
            <a:ext cx="190195" cy="190195"/>
          </a:xfrm>
          <a:prstGeom prst="rect">
            <a:avLst/>
          </a:prstGeom>
        </p:spPr>
      </p:pic>
      <p:sp>
        <p:nvSpPr>
          <p:cNvPr id="17461" name="TextBox 17460"/>
          <p:cNvSpPr txBox="1"/>
          <p:nvPr/>
        </p:nvSpPr>
        <p:spPr>
          <a:xfrm>
            <a:off x="9875520" y="3401568"/>
            <a:ext cx="1828800" cy="6766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262E3B"/>
                </a:solidFill>
                <a:latin typeface="Calibri"/>
              </a:rPr>
              <a:t>Quantized, lazy load, WASM fallback</a:t>
            </a:r>
          </a:p>
        </p:txBody>
      </p:sp>
      <p:sp>
        <p:nvSpPr>
          <p:cNvPr id="17462" name="Rounded Rectangle 17461"/>
          <p:cNvSpPr/>
          <p:nvPr/>
        </p:nvSpPr>
        <p:spPr>
          <a:xfrm>
            <a:off x="6720840" y="4261104"/>
            <a:ext cx="2395728" cy="822960"/>
          </a:xfrm>
          <a:prstGeom prst="roundRect">
            <a:avLst>
              <a:gd name="adj" fmla="val 12000"/>
            </a:avLst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3" name="Oval 17462"/>
          <p:cNvSpPr/>
          <p:nvPr/>
        </p:nvSpPr>
        <p:spPr>
          <a:xfrm>
            <a:off x="6812280" y="4489704"/>
            <a:ext cx="365760" cy="365760"/>
          </a:xfrm>
          <a:prstGeom prst="ellipse">
            <a:avLst/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64" name="Picture 17463" descr="war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0062" y="4577486"/>
            <a:ext cx="190195" cy="190195"/>
          </a:xfrm>
          <a:prstGeom prst="rect">
            <a:avLst/>
          </a:prstGeom>
        </p:spPr>
      </p:pic>
      <p:sp>
        <p:nvSpPr>
          <p:cNvPr id="17465" name="TextBox 17464"/>
          <p:cNvSpPr txBox="1"/>
          <p:nvPr/>
        </p:nvSpPr>
        <p:spPr>
          <a:xfrm>
            <a:off x="7269480" y="4334256"/>
            <a:ext cx="1783080" cy="6766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262E3B"/>
                </a:solidFill>
                <a:latin typeface="Calibri"/>
              </a:rPr>
              <a:t>Planner hallucinates actions</a:t>
            </a:r>
          </a:p>
        </p:txBody>
      </p:sp>
      <p:cxnSp>
        <p:nvCxnSpPr>
          <p:cNvPr id="17466" name="Connector 17465"/>
          <p:cNvCxnSpPr/>
          <p:nvPr/>
        </p:nvCxnSpPr>
        <p:spPr>
          <a:xfrm>
            <a:off x="9134856" y="4672584"/>
            <a:ext cx="182880" cy="0"/>
          </a:xfrm>
          <a:prstGeom prst="line">
            <a:avLst/>
          </a:prstGeom>
          <a:ln w="19050">
            <a:solidFill>
              <a:srgbClr val="5B667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7" name="Rounded Rectangle 17466"/>
          <p:cNvSpPr/>
          <p:nvPr/>
        </p:nvSpPr>
        <p:spPr>
          <a:xfrm>
            <a:off x="9326880" y="4261104"/>
            <a:ext cx="2450592" cy="822960"/>
          </a:xfrm>
          <a:prstGeom prst="roundRect">
            <a:avLst>
              <a:gd name="adj" fmla="val 12000"/>
            </a:avLst>
          </a:prstGeom>
          <a:solidFill>
            <a:srgbClr val="E7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8" name="Oval 17467"/>
          <p:cNvSpPr/>
          <p:nvPr/>
        </p:nvSpPr>
        <p:spPr>
          <a:xfrm>
            <a:off x="9418320" y="4489704"/>
            <a:ext cx="365760" cy="365760"/>
          </a:xfrm>
          <a:prstGeom prst="ellipse">
            <a:avLst/>
          </a:prstGeom>
          <a:solidFill>
            <a:srgbClr val="1E8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69" name="Picture 17468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6102" y="4577486"/>
            <a:ext cx="190195" cy="190195"/>
          </a:xfrm>
          <a:prstGeom prst="rect">
            <a:avLst/>
          </a:prstGeom>
        </p:spPr>
      </p:pic>
      <p:sp>
        <p:nvSpPr>
          <p:cNvPr id="17470" name="TextBox 17469"/>
          <p:cNvSpPr txBox="1"/>
          <p:nvPr/>
        </p:nvSpPr>
        <p:spPr>
          <a:xfrm>
            <a:off x="9875520" y="4334256"/>
            <a:ext cx="1828800" cy="6766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262E3B"/>
                </a:solidFill>
                <a:latin typeface="Calibri"/>
              </a:rPr>
              <a:t>Selectors only from real DOM; server guard</a:t>
            </a:r>
          </a:p>
        </p:txBody>
      </p:sp>
      <p:sp>
        <p:nvSpPr>
          <p:cNvPr id="17471" name="Rounded Rectangle 17470"/>
          <p:cNvSpPr/>
          <p:nvPr/>
        </p:nvSpPr>
        <p:spPr>
          <a:xfrm>
            <a:off x="6720840" y="5193792"/>
            <a:ext cx="2395728" cy="822960"/>
          </a:xfrm>
          <a:prstGeom prst="roundRect">
            <a:avLst>
              <a:gd name="adj" fmla="val 12000"/>
            </a:avLst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2" name="Oval 17471"/>
          <p:cNvSpPr/>
          <p:nvPr/>
        </p:nvSpPr>
        <p:spPr>
          <a:xfrm>
            <a:off x="6812280" y="5422392"/>
            <a:ext cx="365760" cy="365760"/>
          </a:xfrm>
          <a:prstGeom prst="ellipse">
            <a:avLst/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73" name="Picture 17472" descr="war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0062" y="5510174"/>
            <a:ext cx="190195" cy="190195"/>
          </a:xfrm>
          <a:prstGeom prst="rect">
            <a:avLst/>
          </a:prstGeom>
        </p:spPr>
      </p:pic>
      <p:sp>
        <p:nvSpPr>
          <p:cNvPr id="17474" name="TextBox 17473"/>
          <p:cNvSpPr txBox="1"/>
          <p:nvPr/>
        </p:nvSpPr>
        <p:spPr>
          <a:xfrm>
            <a:off x="7269480" y="5266944"/>
            <a:ext cx="1783080" cy="6766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262E3B"/>
                </a:solidFill>
                <a:latin typeface="Calibri"/>
              </a:rPr>
              <a:t>Site CSP blocks ML workers</a:t>
            </a:r>
          </a:p>
        </p:txBody>
      </p:sp>
      <p:cxnSp>
        <p:nvCxnSpPr>
          <p:cNvPr id="17475" name="Connector 17474"/>
          <p:cNvCxnSpPr/>
          <p:nvPr/>
        </p:nvCxnSpPr>
        <p:spPr>
          <a:xfrm>
            <a:off x="9134856" y="5605272"/>
            <a:ext cx="182880" cy="0"/>
          </a:xfrm>
          <a:prstGeom prst="line">
            <a:avLst/>
          </a:prstGeom>
          <a:ln w="19050">
            <a:solidFill>
              <a:srgbClr val="5B667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76" name="Rounded Rectangle 17475"/>
          <p:cNvSpPr/>
          <p:nvPr/>
        </p:nvSpPr>
        <p:spPr>
          <a:xfrm>
            <a:off x="9326880" y="5193792"/>
            <a:ext cx="2450592" cy="822960"/>
          </a:xfrm>
          <a:prstGeom prst="roundRect">
            <a:avLst>
              <a:gd name="adj" fmla="val 12000"/>
            </a:avLst>
          </a:prstGeom>
          <a:solidFill>
            <a:srgbClr val="E7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7" name="Oval 17476"/>
          <p:cNvSpPr/>
          <p:nvPr/>
        </p:nvSpPr>
        <p:spPr>
          <a:xfrm>
            <a:off x="9418320" y="5422392"/>
            <a:ext cx="365760" cy="365760"/>
          </a:xfrm>
          <a:prstGeom prst="ellipse">
            <a:avLst/>
          </a:prstGeom>
          <a:solidFill>
            <a:srgbClr val="1E8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78" name="Picture 17477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6102" y="5510174"/>
            <a:ext cx="190195" cy="190195"/>
          </a:xfrm>
          <a:prstGeom prst="rect">
            <a:avLst/>
          </a:prstGeom>
        </p:spPr>
      </p:pic>
      <p:sp>
        <p:nvSpPr>
          <p:cNvPr id="17479" name="TextBox 17478"/>
          <p:cNvSpPr txBox="1"/>
          <p:nvPr/>
        </p:nvSpPr>
        <p:spPr>
          <a:xfrm>
            <a:off x="9875520" y="5266944"/>
            <a:ext cx="1828800" cy="6766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262E3B"/>
                </a:solidFill>
                <a:latin typeface="Calibri"/>
              </a:rPr>
              <a:t>ML runs in extension's offscreen document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37360" y="109728"/>
            <a:ext cx="7863840" cy="566928"/>
          </a:xfrm>
        </p:spPr>
        <p:txBody>
          <a:bodyPr wrap="square" anchor="ctr" tIns="0" bIns="0">
            <a:noAutofit/>
          </a:bodyPr>
          <a:lstStyle/>
          <a:p>
            <a:pPr eaLnBrk="1" hangingPunct="1" algn="ctr"/>
            <a:r>
              <a:rPr lang="en-US" sz="30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0" rIns="0"/>
          <a:lstStyle/>
          <a:p>
            <a:pPr algn="ctr"/>
            <a:r>
              <a:rPr lang="en-US" dirty="0" sz="1500" b="1"/>
              <a:t>HexaBits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1737360" y="694944"/>
            <a:ext cx="786384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1300" b="0" i="1">
                <a:solidFill>
                  <a:srgbClr val="5B6675"/>
                </a:solidFill>
                <a:latin typeface="Calibri"/>
              </a:rPr>
              <a:t>Makes AI agents usable exactly where privacy matters most.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411480" y="1143000"/>
            <a:ext cx="3657600" cy="100584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3" name="TextBox 17412"/>
          <p:cNvSpPr txBox="1"/>
          <p:nvPr/>
        </p:nvSpPr>
        <p:spPr>
          <a:xfrm>
            <a:off x="640080" y="1188720"/>
            <a:ext cx="54864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0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1280160" y="1188720"/>
            <a:ext cx="265176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raw field values or PII pixels sent to the server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4251960" y="1143000"/>
            <a:ext cx="3657600" cy="100584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6" name="TextBox 17415"/>
          <p:cNvSpPr txBox="1"/>
          <p:nvPr/>
        </p:nvSpPr>
        <p:spPr>
          <a:xfrm>
            <a:off x="4480560" y="1188720"/>
            <a:ext cx="54864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5120640" y="1188720"/>
            <a:ext cx="265176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on-device models bundled in the extension, no CDN at runtime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8092440" y="1143000"/>
            <a:ext cx="3657600" cy="100584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9" name="TextBox 17418"/>
          <p:cNvSpPr txBox="1"/>
          <p:nvPr/>
        </p:nvSpPr>
        <p:spPr>
          <a:xfrm>
            <a:off x="8321040" y="1188720"/>
            <a:ext cx="160020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&lt; 1 ms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10012680" y="1188720"/>
            <a:ext cx="160020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to fuse all detections into the redaction plan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411480" y="237744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070C0"/>
                </a:solidFill>
                <a:latin typeface="Calibri"/>
              </a:rPr>
              <a:t>Potential impact on the target audience</a:t>
            </a:r>
          </a:p>
        </p:txBody>
      </p:sp>
      <p:sp>
        <p:nvSpPr>
          <p:cNvPr id="17422" name="Oval 17421"/>
          <p:cNvSpPr/>
          <p:nvPr/>
        </p:nvSpPr>
        <p:spPr>
          <a:xfrm>
            <a:off x="411480" y="2788920"/>
            <a:ext cx="512064" cy="512064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23" name="Picture 17422" descr="land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375" y="2911815"/>
            <a:ext cx="266273" cy="266273"/>
          </a:xfrm>
          <a:prstGeom prst="rect">
            <a:avLst/>
          </a:prstGeom>
        </p:spPr>
      </p:pic>
      <p:sp>
        <p:nvSpPr>
          <p:cNvPr id="17424" name="TextBox 17423"/>
          <p:cNvSpPr txBox="1"/>
          <p:nvPr/>
        </p:nvSpPr>
        <p:spPr>
          <a:xfrm>
            <a:off x="1051560" y="274320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B2A4A"/>
                </a:solidFill>
                <a:latin typeface="Calibri"/>
              </a:rPr>
              <a:t>Citizens on e-governance portals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1051560" y="3035808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262E3B"/>
                </a:solidFill>
                <a:latin typeface="Calibri"/>
              </a:rPr>
              <a:t>Agent helps fill Aadhaar, PAN, bank and scholarship forms while ID numbers stay on the device.</a:t>
            </a:r>
          </a:p>
        </p:txBody>
      </p:sp>
      <p:sp>
        <p:nvSpPr>
          <p:cNvPr id="17426" name="Oval 17425"/>
          <p:cNvSpPr/>
          <p:nvPr/>
        </p:nvSpPr>
        <p:spPr>
          <a:xfrm>
            <a:off x="411480" y="3904487"/>
            <a:ext cx="512064" cy="512064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27" name="Picture 17426" descr="shie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375" y="4027383"/>
            <a:ext cx="266273" cy="266273"/>
          </a:xfrm>
          <a:prstGeom prst="rect">
            <a:avLst/>
          </a:prstGeom>
        </p:spPr>
      </p:pic>
      <p:sp>
        <p:nvSpPr>
          <p:cNvPr id="17428" name="TextBox 17427"/>
          <p:cNvSpPr txBox="1"/>
          <p:nvPr/>
        </p:nvSpPr>
        <p:spPr>
          <a:xfrm>
            <a:off x="1051560" y="385876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B2A4A"/>
                </a:solidFill>
                <a:latin typeface="Calibri"/>
              </a:rPr>
              <a:t>Government and enterprise staff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1051560" y="4151376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262E3B"/>
                </a:solidFill>
                <a:latin typeface="Calibri"/>
              </a:rPr>
              <a:t>Cloud AI on internal portals without exposing confidential screens or employee data.</a:t>
            </a:r>
          </a:p>
        </p:txBody>
      </p:sp>
      <p:sp>
        <p:nvSpPr>
          <p:cNvPr id="17430" name="Oval 17429"/>
          <p:cNvSpPr/>
          <p:nvPr/>
        </p:nvSpPr>
        <p:spPr>
          <a:xfrm>
            <a:off x="411480" y="5020055"/>
            <a:ext cx="512064" cy="512064"/>
          </a:xfrm>
          <a:prstGeom prst="ellipse">
            <a:avLst/>
          </a:prstGeom>
          <a:solidFill>
            <a:srgbClr val="1E8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31" name="Picture 17430" descr="acces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4375" y="5142951"/>
            <a:ext cx="266273" cy="266273"/>
          </a:xfrm>
          <a:prstGeom prst="rect">
            <a:avLst/>
          </a:prstGeom>
        </p:spPr>
      </p:pic>
      <p:sp>
        <p:nvSpPr>
          <p:cNvPr id="17432" name="TextBox 17431"/>
          <p:cNvSpPr txBox="1"/>
          <p:nvPr/>
        </p:nvSpPr>
        <p:spPr>
          <a:xfrm>
            <a:off x="1051560" y="4974336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B2A4A"/>
                </a:solidFill>
                <a:latin typeface="Calibri"/>
              </a:rPr>
              <a:t>Low-literacy and differently-abled users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1051560" y="5266944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262E3B"/>
                </a:solidFill>
                <a:latin typeface="Calibri"/>
              </a:rPr>
              <a:t>On-device voice input (Whisper) and a side panel make web tasks hands-free.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6355080" y="237744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070C0"/>
                </a:solidFill>
                <a:latin typeface="Calibri"/>
              </a:rPr>
              <a:t>Benefits of the solution (social, economic, environmental, etc.)</a:t>
            </a:r>
          </a:p>
        </p:txBody>
      </p:sp>
      <p:sp>
        <p:nvSpPr>
          <p:cNvPr id="17435" name="Rounded Rectangle 17434"/>
          <p:cNvSpPr/>
          <p:nvPr/>
        </p:nvSpPr>
        <p:spPr>
          <a:xfrm>
            <a:off x="6355080" y="2743200"/>
            <a:ext cx="2633472" cy="1481328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6" name="Oval 17435"/>
          <p:cNvSpPr/>
          <p:nvPr/>
        </p:nvSpPr>
        <p:spPr>
          <a:xfrm>
            <a:off x="6483096" y="2871216"/>
            <a:ext cx="402336" cy="402336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37" name="Picture 17436" descr="user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79656" y="2967776"/>
            <a:ext cx="209214" cy="209214"/>
          </a:xfrm>
          <a:prstGeom prst="rect">
            <a:avLst/>
          </a:prstGeom>
        </p:spPr>
      </p:pic>
      <p:sp>
        <p:nvSpPr>
          <p:cNvPr id="17438" name="TextBox 17437"/>
          <p:cNvSpPr txBox="1"/>
          <p:nvPr/>
        </p:nvSpPr>
        <p:spPr>
          <a:xfrm>
            <a:off x="6976872" y="2926080"/>
            <a:ext cx="1901952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070C0"/>
                </a:solidFill>
                <a:latin typeface="Calibri"/>
              </a:rPr>
              <a:t>Social</a:t>
            </a:r>
          </a:p>
        </p:txBody>
      </p:sp>
      <p:sp>
        <p:nvSpPr>
          <p:cNvPr id="17439" name="TextBox 17438"/>
          <p:cNvSpPr txBox="1"/>
          <p:nvPr/>
        </p:nvSpPr>
        <p:spPr>
          <a:xfrm>
            <a:off x="6483096" y="3383280"/>
            <a:ext cx="2377439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262E3B"/>
                </a:solidFill>
                <a:latin typeface="Calibri"/>
              </a:rPr>
              <a:t>Trust in AI help; data minimisation in line with the DPDP Act 2023.</a:t>
            </a:r>
          </a:p>
        </p:txBody>
      </p:sp>
      <p:sp>
        <p:nvSpPr>
          <p:cNvPr id="17440" name="Rounded Rectangle 17439"/>
          <p:cNvSpPr/>
          <p:nvPr/>
        </p:nvSpPr>
        <p:spPr>
          <a:xfrm>
            <a:off x="9116568" y="2743200"/>
            <a:ext cx="2633472" cy="1481328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1" name="Oval 17440"/>
          <p:cNvSpPr/>
          <p:nvPr/>
        </p:nvSpPr>
        <p:spPr>
          <a:xfrm>
            <a:off x="9244584" y="2871216"/>
            <a:ext cx="402336" cy="402336"/>
          </a:xfrm>
          <a:prstGeom prst="ellipse">
            <a:avLst/>
          </a:prstGeom>
          <a:solidFill>
            <a:srgbClr val="1E8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42" name="Picture 17441" descr="rupe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41144" y="2967776"/>
            <a:ext cx="209214" cy="209214"/>
          </a:xfrm>
          <a:prstGeom prst="rect">
            <a:avLst/>
          </a:prstGeom>
        </p:spPr>
      </p:pic>
      <p:sp>
        <p:nvSpPr>
          <p:cNvPr id="17443" name="TextBox 17442"/>
          <p:cNvSpPr txBox="1"/>
          <p:nvPr/>
        </p:nvSpPr>
        <p:spPr>
          <a:xfrm>
            <a:off x="9738360" y="2926080"/>
            <a:ext cx="1901952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E8E4A"/>
                </a:solidFill>
                <a:latin typeface="Calibri"/>
              </a:rPr>
              <a:t>Economic</a:t>
            </a:r>
          </a:p>
        </p:txBody>
      </p:sp>
      <p:sp>
        <p:nvSpPr>
          <p:cNvPr id="17444" name="TextBox 17443"/>
          <p:cNvSpPr txBox="1"/>
          <p:nvPr/>
        </p:nvSpPr>
        <p:spPr>
          <a:xfrm>
            <a:off x="9244584" y="3383280"/>
            <a:ext cx="2377439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262E3B"/>
                </a:solidFill>
                <a:latin typeface="Calibri"/>
              </a:rPr>
              <a:t>Perception runs on the client; open-weights server model, no vendor lock-in.</a:t>
            </a:r>
          </a:p>
        </p:txBody>
      </p:sp>
      <p:sp>
        <p:nvSpPr>
          <p:cNvPr id="17445" name="Rounded Rectangle 17444"/>
          <p:cNvSpPr/>
          <p:nvPr/>
        </p:nvSpPr>
        <p:spPr>
          <a:xfrm>
            <a:off x="6355080" y="4352544"/>
            <a:ext cx="2633472" cy="1481328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6" name="Oval 17445"/>
          <p:cNvSpPr/>
          <p:nvPr/>
        </p:nvSpPr>
        <p:spPr>
          <a:xfrm>
            <a:off x="6483096" y="4480559"/>
            <a:ext cx="402336" cy="402336"/>
          </a:xfrm>
          <a:prstGeom prst="ellipse">
            <a:avLst/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47" name="Picture 17446" descr="loc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79656" y="4577120"/>
            <a:ext cx="209214" cy="209214"/>
          </a:xfrm>
          <a:prstGeom prst="rect">
            <a:avLst/>
          </a:prstGeom>
        </p:spPr>
      </p:pic>
      <p:sp>
        <p:nvSpPr>
          <p:cNvPr id="17448" name="TextBox 17447"/>
          <p:cNvSpPr txBox="1"/>
          <p:nvPr/>
        </p:nvSpPr>
        <p:spPr>
          <a:xfrm>
            <a:off x="6976872" y="4535424"/>
            <a:ext cx="1901952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87722"/>
                </a:solidFill>
                <a:latin typeface="Calibri"/>
              </a:rPr>
              <a:t>Security</a:t>
            </a:r>
          </a:p>
        </p:txBody>
      </p:sp>
      <p:sp>
        <p:nvSpPr>
          <p:cNvPr id="17449" name="TextBox 17448"/>
          <p:cNvSpPr txBox="1"/>
          <p:nvPr/>
        </p:nvSpPr>
        <p:spPr>
          <a:xfrm>
            <a:off x="6483096" y="4992624"/>
            <a:ext cx="2377439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262E3B"/>
                </a:solidFill>
                <a:latin typeface="Calibri"/>
              </a:rPr>
              <a:t>Server never stores raw PII, so a server breach leaks nothing personal.</a:t>
            </a:r>
          </a:p>
        </p:txBody>
      </p:sp>
      <p:sp>
        <p:nvSpPr>
          <p:cNvPr id="17450" name="Rounded Rectangle 17449"/>
          <p:cNvSpPr/>
          <p:nvPr/>
        </p:nvSpPr>
        <p:spPr>
          <a:xfrm>
            <a:off x="9116568" y="4352544"/>
            <a:ext cx="2633472" cy="1481328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1" name="Oval 17450"/>
          <p:cNvSpPr/>
          <p:nvPr/>
        </p:nvSpPr>
        <p:spPr>
          <a:xfrm>
            <a:off x="9244584" y="4480559"/>
            <a:ext cx="402336" cy="402336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52" name="Picture 17451" descr="bol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341144" y="4577120"/>
            <a:ext cx="209214" cy="209214"/>
          </a:xfrm>
          <a:prstGeom prst="rect">
            <a:avLst/>
          </a:prstGeom>
        </p:spPr>
      </p:pic>
      <p:sp>
        <p:nvSpPr>
          <p:cNvPr id="17453" name="TextBox 17452"/>
          <p:cNvSpPr txBox="1"/>
          <p:nvPr/>
        </p:nvSpPr>
        <p:spPr>
          <a:xfrm>
            <a:off x="9738360" y="4535424"/>
            <a:ext cx="1901952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B2A4A"/>
                </a:solidFill>
                <a:latin typeface="Calibri"/>
              </a:rPr>
              <a:t>Environmental</a:t>
            </a:r>
          </a:p>
        </p:txBody>
      </p:sp>
      <p:sp>
        <p:nvSpPr>
          <p:cNvPr id="17454" name="TextBox 17453"/>
          <p:cNvSpPr txBox="1"/>
          <p:nvPr/>
        </p:nvSpPr>
        <p:spPr>
          <a:xfrm>
            <a:off x="9244584" y="4992624"/>
            <a:ext cx="2377439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262E3B"/>
                </a:solidFill>
                <a:latin typeface="Calibri"/>
              </a:rPr>
              <a:t>Less server GPU work and smaller payloads per step.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37360" y="109728"/>
            <a:ext cx="7863840" cy="566928"/>
          </a:xfrm>
        </p:spPr>
        <p:txBody>
          <a:bodyPr wrap="square" anchor="ctr" tIns="0" bIns="0">
            <a:noAutofit/>
          </a:bodyPr>
          <a:lstStyle/>
          <a:p>
            <a:pPr eaLnBrk="1" hangingPunct="1" algn="ctr"/>
            <a:r>
              <a:rPr lang="en-US" sz="30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0" rIns="0"/>
          <a:lstStyle/>
          <a:p>
            <a:pPr algn="ctr"/>
            <a:r>
              <a:rPr lang="en-US" dirty="0" sz="1500" b="1"/>
              <a:t>HexaBits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1737360" y="694944"/>
            <a:ext cx="786384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1300" b="0" i="1">
                <a:solidFill>
                  <a:srgbClr val="5B6675"/>
                </a:solidFill>
                <a:latin typeface="Calibri"/>
              </a:rPr>
              <a:t>Every model and runtime below is open-source or open-weights.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411480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070C0"/>
                </a:solidFill>
                <a:latin typeface="Calibri"/>
              </a:rPr>
              <a:t>Details / Links of the reference and research work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11480" y="1481328"/>
            <a:ext cx="3657600" cy="3520440"/>
          </a:xfrm>
          <a:prstGeom prst="roundRect">
            <a:avLst>
              <a:gd name="adj" fmla="val 4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4" name="Oval 17413"/>
          <p:cNvSpPr/>
          <p:nvPr/>
        </p:nvSpPr>
        <p:spPr>
          <a:xfrm>
            <a:off x="557784" y="1609344"/>
            <a:ext cx="384048" cy="384048"/>
          </a:xfrm>
          <a:prstGeom prst="ellipse">
            <a:avLst/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15" name="Picture 17414" descr="cp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955" y="1701515"/>
            <a:ext cx="199704" cy="199704"/>
          </a:xfrm>
          <a:prstGeom prst="rect">
            <a:avLst/>
          </a:prstGeom>
        </p:spPr>
      </p:pic>
      <p:sp>
        <p:nvSpPr>
          <p:cNvPr id="17416" name="TextBox 17415"/>
          <p:cNvSpPr txBox="1"/>
          <p:nvPr/>
        </p:nvSpPr>
        <p:spPr>
          <a:xfrm>
            <a:off x="1051560" y="1645920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87722"/>
                </a:solidFill>
                <a:latin typeface="Calibri"/>
              </a:rPr>
              <a:t>On-device models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576072" y="2103120"/>
            <a:ext cx="3364992" cy="2834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B2A4A"/>
                </a:solidFill>
                <a:latin typeface="Calibri"/>
              </a:rPr>
              <a:t>Florence-2 (ViT)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5B6675"/>
                </a:solidFill>
                <a:latin typeface="Calibri"/>
              </a:rPr>
              <a:t>Xiao et al., CVPR 2024, arXiv:2311.06242</a:t>
            </a:r>
          </a:p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B2A4A"/>
                </a:solidFill>
                <a:latin typeface="Calibri"/>
              </a:rPr>
              <a:t>BlazeFace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5B6675"/>
                </a:solidFill>
                <a:latin typeface="Calibri"/>
              </a:rPr>
              <a:t>Bazarevsky et al., arXiv:1907.05047</a:t>
            </a:r>
          </a:p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B2A4A"/>
                </a:solidFill>
                <a:latin typeface="Calibri"/>
              </a:rPr>
              <a:t>YOLOv8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5B6675"/>
                </a:solidFill>
                <a:latin typeface="Calibri"/>
              </a:rPr>
              <a:t>github.com/ultralytics/ultralytics</a:t>
            </a:r>
          </a:p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B2A4A"/>
                </a:solidFill>
                <a:latin typeface="Calibri"/>
              </a:rPr>
              <a:t>BERT NER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5B6675"/>
                </a:solidFill>
                <a:latin typeface="Calibri"/>
              </a:rPr>
              <a:t>Devlin et al., arXiv:1810.04805; hf.co/Xenova/bert-base-NER</a:t>
            </a:r>
          </a:p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B2A4A"/>
                </a:solidFill>
                <a:latin typeface="Calibri"/>
              </a:rPr>
              <a:t>Whisper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5B6675"/>
                </a:solidFill>
                <a:latin typeface="Calibri"/>
              </a:rPr>
              <a:t>Radford et al., arXiv:2212.04356</a:t>
            </a:r>
          </a:p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B2A4A"/>
                </a:solidFill>
                <a:latin typeface="Calibri"/>
              </a:rPr>
              <a:t>Tesseract OCR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5B6675"/>
                </a:solidFill>
                <a:latin typeface="Calibri"/>
              </a:rPr>
              <a:t>github.com/naptha/tesseract.js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4270248" y="1481328"/>
            <a:ext cx="3657600" cy="3520440"/>
          </a:xfrm>
          <a:prstGeom prst="roundRect">
            <a:avLst>
              <a:gd name="adj" fmla="val 4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9" name="Oval 17418"/>
          <p:cNvSpPr/>
          <p:nvPr/>
        </p:nvSpPr>
        <p:spPr>
          <a:xfrm>
            <a:off x="4416552" y="1609344"/>
            <a:ext cx="384048" cy="384048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20" name="Picture 17419" descr="co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8723" y="1701515"/>
            <a:ext cx="199704" cy="199704"/>
          </a:xfrm>
          <a:prstGeom prst="rect">
            <a:avLst/>
          </a:prstGeom>
        </p:spPr>
      </p:pic>
      <p:sp>
        <p:nvSpPr>
          <p:cNvPr id="17421" name="TextBox 17420"/>
          <p:cNvSpPr txBox="1"/>
          <p:nvPr/>
        </p:nvSpPr>
        <p:spPr>
          <a:xfrm>
            <a:off x="4910328" y="1645920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070C0"/>
                </a:solidFill>
                <a:latin typeface="Calibri"/>
              </a:rPr>
              <a:t>Runtimes and platform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4434840" y="2103120"/>
            <a:ext cx="3364992" cy="2834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B2A4A"/>
                </a:solidFill>
                <a:latin typeface="Calibri"/>
              </a:rPr>
              <a:t>ONNX Runtime Web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5B6675"/>
                </a:solidFill>
                <a:latin typeface="Calibri"/>
              </a:rPr>
              <a:t>onnxruntime.ai/docs/tutorials/web</a:t>
            </a:r>
          </a:p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B2A4A"/>
                </a:solidFill>
                <a:latin typeface="Calibri"/>
              </a:rPr>
              <a:t>Transformers.js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5B6675"/>
                </a:solidFill>
                <a:latin typeface="Calibri"/>
              </a:rPr>
              <a:t>huggingface.co/docs/transformers.js</a:t>
            </a:r>
          </a:p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B2A4A"/>
                </a:solidFill>
                <a:latin typeface="Calibri"/>
              </a:rPr>
              <a:t>WebGPU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5B6675"/>
                </a:solidFill>
                <a:latin typeface="Calibri"/>
              </a:rPr>
              <a:t>w3.org/TR/webgpu</a:t>
            </a:r>
          </a:p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B2A4A"/>
                </a:solidFill>
                <a:latin typeface="Calibri"/>
              </a:rPr>
              <a:t>MediaPipe Tasks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5B6675"/>
                </a:solidFill>
                <a:latin typeface="Calibri"/>
              </a:rPr>
              <a:t>ai.google.dev/edge/mediapipe</a:t>
            </a:r>
          </a:p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B2A4A"/>
                </a:solidFill>
                <a:latin typeface="Calibri"/>
              </a:rPr>
              <a:t>Chrome Offscreen API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5B6675"/>
                </a:solidFill>
                <a:latin typeface="Calibri"/>
              </a:rPr>
              <a:t>developer.chrome.com/docs/extensions</a:t>
            </a:r>
          </a:p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B2A4A"/>
                </a:solidFill>
                <a:latin typeface="Calibri"/>
              </a:rPr>
              <a:t>FastAPI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5B6675"/>
                </a:solidFill>
                <a:latin typeface="Calibri"/>
              </a:rPr>
              <a:t>fastapi.tiangolo.com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8129015" y="1481328"/>
            <a:ext cx="3657600" cy="3520440"/>
          </a:xfrm>
          <a:prstGeom prst="roundRect">
            <a:avLst>
              <a:gd name="adj" fmla="val 4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4" name="Oval 17423"/>
          <p:cNvSpPr/>
          <p:nvPr/>
        </p:nvSpPr>
        <p:spPr>
          <a:xfrm>
            <a:off x="8275319" y="1609344"/>
            <a:ext cx="384048" cy="384048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25" name="Picture 17424" descr="boo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67491" y="1701515"/>
            <a:ext cx="199704" cy="199704"/>
          </a:xfrm>
          <a:prstGeom prst="rect">
            <a:avLst/>
          </a:prstGeom>
        </p:spPr>
      </p:pic>
      <p:sp>
        <p:nvSpPr>
          <p:cNvPr id="17426" name="TextBox 17425"/>
          <p:cNvSpPr txBox="1"/>
          <p:nvPr/>
        </p:nvSpPr>
        <p:spPr>
          <a:xfrm>
            <a:off x="8769095" y="1645920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B2A4A"/>
                </a:solidFill>
                <a:latin typeface="Calibri"/>
              </a:rPr>
              <a:t>Web agents and policy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8293607" y="2103120"/>
            <a:ext cx="3364992" cy="2834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B2A4A"/>
                </a:solidFill>
                <a:latin typeface="Calibri"/>
              </a:rPr>
              <a:t>SeeAct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5B6675"/>
                </a:solidFill>
                <a:latin typeface="Calibri"/>
              </a:rPr>
              <a:t>Zheng et al., ICML 2024, arXiv:2401.01614</a:t>
            </a:r>
          </a:p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B2A4A"/>
                </a:solidFill>
                <a:latin typeface="Calibri"/>
              </a:rPr>
              <a:t>Mind2Web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5B6675"/>
                </a:solidFill>
                <a:latin typeface="Calibri"/>
              </a:rPr>
              <a:t>Deng et al., NeurIPS 2023, arXiv:2306.06070</a:t>
            </a:r>
          </a:p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B2A4A"/>
                </a:solidFill>
                <a:latin typeface="Calibri"/>
              </a:rPr>
              <a:t>Llama 4 Scout (open-weights VLM)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5B6675"/>
                </a:solidFill>
                <a:latin typeface="Calibri"/>
              </a:rPr>
              <a:t>hf.co/meta-llama/Llama-4-Scout-17B-16E-Instruct</a:t>
            </a:r>
          </a:p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B2A4A"/>
                </a:solidFill>
                <a:latin typeface="Calibri"/>
              </a:rPr>
              <a:t>DPDP Act 2023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5B6675"/>
                </a:solidFill>
                <a:latin typeface="Calibri"/>
              </a:rPr>
              <a:t>meity.gov.in, Digital Personal Data Protection Act</a:t>
            </a:r>
          </a:p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B2A4A"/>
                </a:solidFill>
                <a:latin typeface="Calibri"/>
              </a:rPr>
              <a:t>SIH 2026 PS 26171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5B6675"/>
                </a:solidFill>
                <a:latin typeface="Calibri"/>
              </a:rPr>
              <a:t>ISRO / SAC, On-device Visual Perception for Browser Agents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411480" y="5138928"/>
            <a:ext cx="11375136" cy="987552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9" name="Oval 17428"/>
          <p:cNvSpPr/>
          <p:nvPr/>
        </p:nvSpPr>
        <p:spPr>
          <a:xfrm>
            <a:off x="594360" y="5349240"/>
            <a:ext cx="566928" cy="566928"/>
          </a:xfrm>
          <a:prstGeom prst="ellipse">
            <a:avLst/>
          </a:prstGeom>
          <a:solidFill>
            <a:srgbClr val="1E8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30" name="Picture 17429" descr="flas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0422" y="5485302"/>
            <a:ext cx="294802" cy="294802"/>
          </a:xfrm>
          <a:prstGeom prst="rect">
            <a:avLst/>
          </a:prstGeom>
        </p:spPr>
      </p:pic>
      <p:sp>
        <p:nvSpPr>
          <p:cNvPr id="17431" name="TextBox 17430"/>
          <p:cNvSpPr txBox="1"/>
          <p:nvPr/>
        </p:nvSpPr>
        <p:spPr>
          <a:xfrm>
            <a:off x="1325880" y="5230368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Our own research: working prototype + reproducible eval harness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1325880" y="5522976"/>
            <a:ext cx="1024128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Extension, server and Jarvis desktop companion built. Eval (eval/results.md) runs the shipping redaction code on 32 labelled items: 100% recall, 91.3% precision, 92.8% pixel precision; text PII 100% / 100% on 25 cases.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7514</TotalTime>
  <Words>333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sanskaar undale</cp:lastModifiedBy>
  <cp:revision>149</cp:revision>
  <dcterms:created xsi:type="dcterms:W3CDTF">2013-12-12T18:46:50Z</dcterms:created>
  <dcterms:modified xsi:type="dcterms:W3CDTF">2026-09-15T08:50:25Z</dcterms:modified>
  <cp:category/>
</cp:coreProperties>
</file>